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12" r:id="rId1"/>
  </p:sldMasterIdLst>
  <p:handoutMasterIdLst>
    <p:handoutMasterId r:id="rId48"/>
  </p:handoutMasterIdLst>
  <p:sldIdLst>
    <p:sldId id="256" r:id="rId2"/>
    <p:sldId id="277" r:id="rId3"/>
    <p:sldId id="280" r:id="rId4"/>
    <p:sldId id="281" r:id="rId5"/>
    <p:sldId id="282" r:id="rId6"/>
    <p:sldId id="283" r:id="rId7"/>
    <p:sldId id="284" r:id="rId8"/>
    <p:sldId id="285" r:id="rId9"/>
    <p:sldId id="286" r:id="rId10"/>
    <p:sldId id="287" r:id="rId11"/>
    <p:sldId id="289" r:id="rId12"/>
    <p:sldId id="273" r:id="rId13"/>
    <p:sldId id="322" r:id="rId14"/>
    <p:sldId id="288" r:id="rId15"/>
    <p:sldId id="323" r:id="rId16"/>
    <p:sldId id="292" r:id="rId17"/>
    <p:sldId id="327" r:id="rId18"/>
    <p:sldId id="326" r:id="rId19"/>
    <p:sldId id="296" r:id="rId20"/>
    <p:sldId id="297" r:id="rId21"/>
    <p:sldId id="298" r:id="rId22"/>
    <p:sldId id="299" r:id="rId23"/>
    <p:sldId id="300" r:id="rId24"/>
    <p:sldId id="301" r:id="rId25"/>
    <p:sldId id="328" r:id="rId26"/>
    <p:sldId id="302" r:id="rId27"/>
    <p:sldId id="304" r:id="rId28"/>
    <p:sldId id="306" r:id="rId29"/>
    <p:sldId id="331" r:id="rId30"/>
    <p:sldId id="305" r:id="rId31"/>
    <p:sldId id="309" r:id="rId32"/>
    <p:sldId id="329" r:id="rId33"/>
    <p:sldId id="330" r:id="rId34"/>
    <p:sldId id="312" r:id="rId35"/>
    <p:sldId id="310" r:id="rId36"/>
    <p:sldId id="313" r:id="rId37"/>
    <p:sldId id="314" r:id="rId38"/>
    <p:sldId id="316" r:id="rId39"/>
    <p:sldId id="315" r:id="rId40"/>
    <p:sldId id="317" r:id="rId41"/>
    <p:sldId id="318" r:id="rId42"/>
    <p:sldId id="332" r:id="rId43"/>
    <p:sldId id="319" r:id="rId44"/>
    <p:sldId id="321" r:id="rId45"/>
    <p:sldId id="325" r:id="rId46"/>
    <p:sldId id="279" r:id="rId4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D419"/>
    <a:srgbClr val="6CB255"/>
    <a:srgbClr val="212F62"/>
    <a:srgbClr val="72A510"/>
    <a:srgbClr val="A4EC1A"/>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841" autoAdjust="0"/>
    <p:restoredTop sz="98799" autoAdjust="0"/>
  </p:normalViewPr>
  <p:slideViewPr>
    <p:cSldViewPr snapToGrid="0" snapToObjects="1">
      <p:cViewPr varScale="1">
        <p:scale>
          <a:sx n="114" d="100"/>
          <a:sy n="114" d="100"/>
        </p:scale>
        <p:origin x="1458" y="8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handoutMaster" Target="handoutMasters/handoutMaster1.xml"/><Relationship Id="rId8" Type="http://schemas.openxmlformats.org/officeDocument/2006/relationships/slide" Target="slides/slide7.xml"/><Relationship Id="rId51"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2.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748D041A-73BB-E643-A8C7-50D88C2F22F5}" type="datetimeFigureOut">
              <a:rPr lang="en-US" smtClean="0"/>
              <a:t>8/16/2022</a:t>
            </a:fld>
            <a:endParaRPr lang="en-US"/>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36EFEC5-3018-A548-B247-453C6EC1EC1A}" type="slidenum">
              <a:rPr lang="en-US" smtClean="0"/>
              <a:t>‹#›</a:t>
            </a:fld>
            <a:endParaRPr lang="en-US"/>
          </a:p>
        </p:txBody>
      </p:sp>
    </p:spTree>
    <p:extLst>
      <p:ext uri="{BB962C8B-B14F-4D97-AF65-F5344CB8AC3E}">
        <p14:creationId xmlns:p14="http://schemas.microsoft.com/office/powerpoint/2010/main" val="1330057210"/>
      </p:ext>
    </p:extLst>
  </p:cSld>
  <p:clrMap bg1="lt1" tx1="dk1" bg2="lt2" tx2="dk2" accent1="accent1" accent2="accent2" accent3="accent3" accent4="accent4" accent5="accent5" accent6="accent6" hlink="hlink" folHlink="folHlink"/>
</p:handout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41326"/>
            <a:ext cx="8062912" cy="659535"/>
          </a:xfrm>
        </p:spPr>
        <p:txBody>
          <a:bodyPr/>
          <a:lstStyle/>
          <a:p>
            <a:r>
              <a:rPr lang="en-US" dirty="0"/>
              <a:t>Click to edit</a:t>
            </a:r>
          </a:p>
        </p:txBody>
      </p:sp>
      <p:sp>
        <p:nvSpPr>
          <p:cNvPr id="5" name="Date Placeholder 4"/>
          <p:cNvSpPr>
            <a:spLocks noGrp="1"/>
          </p:cNvSpPr>
          <p:nvPr>
            <p:ph type="dt" sz="half" idx="10"/>
          </p:nvPr>
        </p:nvSpPr>
        <p:spPr/>
        <p:txBody>
          <a:bodyPr/>
          <a:lstStyle/>
          <a:p>
            <a:fld id="{79B19C71-EC74-44AF-B27E-FC7DC3C3A61D}" type="datetime4">
              <a:rPr lang="en-US" smtClean="0"/>
              <a:pPr/>
              <a:t>August 16, 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Picture Placeholder 8"/>
          <p:cNvSpPr>
            <a:spLocks noGrp="1"/>
          </p:cNvSpPr>
          <p:nvPr>
            <p:ph type="pic" sz="quarter" idx="13"/>
          </p:nvPr>
        </p:nvSpPr>
        <p:spPr>
          <a:xfrm>
            <a:off x="457199" y="1107618"/>
            <a:ext cx="4031619" cy="4607689"/>
          </a:xfrm>
        </p:spPr>
        <p:txBody>
          <a:bodyPr/>
          <a:lstStyle/>
          <a:p>
            <a:endParaRPr lang="en-US" dirty="0"/>
          </a:p>
        </p:txBody>
      </p:sp>
      <p:sp>
        <p:nvSpPr>
          <p:cNvPr id="11" name="Text Placeholder 10"/>
          <p:cNvSpPr>
            <a:spLocks noGrp="1"/>
          </p:cNvSpPr>
          <p:nvPr>
            <p:ph type="body" sz="quarter" idx="14"/>
          </p:nvPr>
        </p:nvSpPr>
        <p:spPr>
          <a:xfrm>
            <a:off x="4606925" y="1107618"/>
            <a:ext cx="3913188" cy="4607382"/>
          </a:xfrm>
        </p:spPr>
        <p:txBody>
          <a:bodyPr/>
          <a:lstStyle>
            <a:lvl1pPr>
              <a:buClr>
                <a:srgbClr val="6CB255"/>
              </a:buClr>
              <a:defRPr>
                <a:solidFill>
                  <a:srgbClr val="212F62"/>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and Content">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93333F43-3E86-47E4-BFBB-2476D384E1C6}" type="datetime4">
              <a:rPr lang="en-US" smtClean="0"/>
              <a:pPr/>
              <a:t>August 16, 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38DF745-7D3F-47F4-83A3-874385CFAA69}" type="slidenum">
              <a:rPr lang="en-US" smtClean="0"/>
              <a:pPr/>
              <a:t>‹#›</a:t>
            </a:fld>
            <a:endParaRPr lang="en-US"/>
          </a:p>
        </p:txBody>
      </p:sp>
      <p:sp>
        <p:nvSpPr>
          <p:cNvPr id="7" name="Title 1"/>
          <p:cNvSpPr>
            <a:spLocks noGrp="1"/>
          </p:cNvSpPr>
          <p:nvPr>
            <p:ph type="title"/>
          </p:nvPr>
        </p:nvSpPr>
        <p:spPr>
          <a:xfrm>
            <a:off x="457200" y="241326"/>
            <a:ext cx="8062912" cy="659535"/>
          </a:xfrm>
        </p:spPr>
        <p:txBody>
          <a:bodyPr/>
          <a:lstStyle/>
          <a:p>
            <a:r>
              <a:rPr lang="en-US" dirty="0"/>
              <a:t>Click to edit</a:t>
            </a:r>
          </a:p>
        </p:txBody>
      </p:sp>
      <p:sp>
        <p:nvSpPr>
          <p:cNvPr id="8" name="Picture Placeholder 8"/>
          <p:cNvSpPr>
            <a:spLocks noGrp="1"/>
          </p:cNvSpPr>
          <p:nvPr>
            <p:ph type="pic" sz="quarter" idx="13"/>
          </p:nvPr>
        </p:nvSpPr>
        <p:spPr>
          <a:xfrm>
            <a:off x="457199" y="1122386"/>
            <a:ext cx="8062913" cy="3500071"/>
          </a:xfrm>
        </p:spPr>
        <p:txBody>
          <a:bodyPr/>
          <a:lstStyle/>
          <a:p>
            <a:endParaRPr lang="en-US" dirty="0"/>
          </a:p>
        </p:txBody>
      </p:sp>
      <p:sp>
        <p:nvSpPr>
          <p:cNvPr id="9" name="Text Placeholder 10"/>
          <p:cNvSpPr>
            <a:spLocks noGrp="1"/>
          </p:cNvSpPr>
          <p:nvPr>
            <p:ph type="body" sz="quarter" idx="14"/>
          </p:nvPr>
        </p:nvSpPr>
        <p:spPr>
          <a:xfrm>
            <a:off x="457200" y="4843982"/>
            <a:ext cx="8062912" cy="1166382"/>
          </a:xfrm>
        </p:spPr>
        <p:txBody>
          <a:bodyPr/>
          <a:lstStyle>
            <a:lvl1pPr>
              <a:buClr>
                <a:srgbClr val="6CB255"/>
              </a:buClr>
              <a:defRPr>
                <a:solidFill>
                  <a:srgbClr val="000000"/>
                </a:solidFill>
              </a:defRPr>
            </a:lvl1pPr>
            <a:lvl2pPr marL="731520" indent="-457200">
              <a:buClr>
                <a:srgbClr val="6CB255"/>
              </a:buClr>
              <a:buFont typeface="+mj-lt"/>
              <a:buAutoNum type="alphaLcParenR"/>
              <a:defRPr>
                <a:solidFill>
                  <a:schemeClr val="tx1"/>
                </a:solidFill>
              </a:defRPr>
            </a:lvl2pPr>
            <a:lvl3pPr marL="1257300" indent="-342900">
              <a:buClr>
                <a:srgbClr val="6CB255"/>
              </a:buClr>
              <a:buFont typeface="+mj-lt"/>
              <a:buAutoNum type="alphaLcParenR"/>
              <a:defRPr>
                <a:solidFill>
                  <a:schemeClr val="tx1"/>
                </a:solidFill>
              </a:defRPr>
            </a:lvl3pPr>
            <a:lvl4pPr marL="1714500" indent="-342900">
              <a:buClr>
                <a:srgbClr val="6CB255"/>
              </a:buClr>
              <a:buFont typeface="+mj-lt"/>
              <a:buAutoNum type="alphaLcParenR"/>
              <a:defRPr>
                <a:solidFill>
                  <a:schemeClr val="tx1"/>
                </a:solidFill>
              </a:defRPr>
            </a:lvl4pPr>
            <a:lvl5pPr marL="2171700" indent="-342900">
              <a:buClr>
                <a:srgbClr val="6CB255"/>
              </a:buClr>
              <a:buFont typeface="+mj-lt"/>
              <a:buAutoNum type="alphaLcParenR"/>
              <a:defRPr>
                <a:solidFill>
                  <a:schemeClr val="tx1"/>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3" name="Content Placeholder 2"/>
          <p:cNvSpPr>
            <a:spLocks noGrp="1"/>
          </p:cNvSpPr>
          <p:nvPr>
            <p:ph idx="1"/>
          </p:nvPr>
        </p:nvSpPr>
        <p:spPr>
          <a:xfrm>
            <a:off x="3575050" y="1600200"/>
            <a:ext cx="5111750" cy="4480560"/>
          </a:xfrm>
        </p:spPr>
        <p:txBody>
          <a:bodyPr/>
          <a:lstStyle>
            <a:lvl1pPr>
              <a:defRPr sz="3200"/>
            </a:lvl1pPr>
            <a:lvl2pPr marL="788670" indent="-514350">
              <a:buFont typeface="+mj-lt"/>
              <a:buAutoNum type="alphaLcParenR"/>
              <a:defRPr sz="2800"/>
            </a:lvl2pPr>
            <a:lvl3pPr marL="1371600" indent="-457200">
              <a:buFont typeface="+mj-lt"/>
              <a:buAutoNum type="alphaLcParenR"/>
              <a:defRPr sz="2400"/>
            </a:lvl3pPr>
            <a:lvl4pPr marL="1828800" indent="-457200">
              <a:buFont typeface="+mj-lt"/>
              <a:buAutoNum type="alphaLcParenR"/>
              <a:defRPr sz="2000"/>
            </a:lvl4pPr>
            <a:lvl5pPr marL="2286000" indent="-457200">
              <a:buFont typeface="+mj-lt"/>
              <a:buAutoNum type="alphaLcParen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600200"/>
            <a:ext cx="3008313" cy="448056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6EAD5615-7F4F-4584-84D5-CC95918C321F}" type="datetime4">
              <a:rPr lang="en-US" smtClean="0"/>
              <a:pPr/>
              <a:t>August 16, 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38DF745-7D3F-47F4-83A3-874385CFAA69}" type="slidenum">
              <a:rPr lang="en-US" smtClean="0"/>
              <a:pPr/>
              <a:t>‹#›</a:t>
            </a:fld>
            <a:endParaRPr lang="en-US"/>
          </a:p>
        </p:txBody>
      </p:sp>
      <p:sp>
        <p:nvSpPr>
          <p:cNvPr id="9" name="Title 1"/>
          <p:cNvSpPr>
            <a:spLocks noGrp="1"/>
          </p:cNvSpPr>
          <p:nvPr>
            <p:ph type="title"/>
          </p:nvPr>
        </p:nvSpPr>
        <p:spPr>
          <a:xfrm>
            <a:off x="457200" y="241326"/>
            <a:ext cx="8062912" cy="659535"/>
          </a:xfrm>
        </p:spPr>
        <p:txBody>
          <a:bodyPr/>
          <a:lstStyle/>
          <a:p>
            <a:r>
              <a:rPr lang="en-US" dirty="0"/>
              <a:t>Click to edit</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451DEABC-D766-4322-8E78-B830FAE35C72}" type="datetime4">
              <a:rPr lang="en-US" smtClean="0"/>
              <a:pPr/>
              <a:t>August 16, 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8" name="Title 1"/>
          <p:cNvSpPr txBox="1">
            <a:spLocks/>
          </p:cNvSpPr>
          <p:nvPr userDrawn="1"/>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sz="3500" dirty="0"/>
              <a:t>College Physics</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 Chapter Title</a:t>
            </a:r>
          </a:p>
          <a:p>
            <a:pPr algn="ctr"/>
            <a:r>
              <a:rPr lang="en-US" sz="1600" cap="none" dirty="0">
                <a:solidFill>
                  <a:schemeClr val="tx1"/>
                </a:solidFill>
                <a:latin typeface="+mn-lt"/>
              </a:rPr>
              <a:t>PowerPoint Image Slideshow</a:t>
            </a:r>
          </a:p>
        </p:txBody>
      </p:sp>
      <p:pic>
        <p:nvPicPr>
          <p:cNvPr id="9" name="Picture 8" descr="medium_covers_Page_2.png"/>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562758" y="2517424"/>
            <a:ext cx="2010682" cy="2603836"/>
          </a:xfrm>
          <a:prstGeom prst="rect">
            <a:avLst/>
          </a:prstGeom>
          <a:effectLst>
            <a:reflection blurRad="6350" stA="52000" endA="300" endPos="35000" dir="5400000" sy="-100000" algn="bl" rotWithShape="0"/>
          </a:effectLst>
          <a:scene3d>
            <a:camera prst="obliqueTopLeft"/>
            <a:lightRig rig="threePt" dir="t"/>
          </a:scene3d>
        </p:spPr>
      </p:pic>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jp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6"/>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152718"/>
            <a:ext cx="5791200" cy="1371600"/>
          </a:xfrm>
          <a:prstGeom prst="rect">
            <a:avLst/>
          </a:prstGeom>
        </p:spPr>
        <p:txBody>
          <a:bodyPr vert="horz" lIns="91440" tIns="45720" rIns="91440" bIns="45720" rtlCol="0" anchor="b">
            <a:normAutofit/>
          </a:bodyPr>
          <a:lstStyle/>
          <a:p>
            <a:r>
              <a:rPr lang="en-US" dirty="0"/>
              <a:t>Click to edit Master title style</a:t>
            </a:r>
          </a:p>
        </p:txBody>
      </p:sp>
      <p:sp>
        <p:nvSpPr>
          <p:cNvPr id="3" name="Text Placeholder 2"/>
          <p:cNvSpPr>
            <a:spLocks noGrp="1"/>
          </p:cNvSpPr>
          <p:nvPr>
            <p:ph type="body" idx="1"/>
          </p:nvPr>
        </p:nvSpPr>
        <p:spPr>
          <a:xfrm>
            <a:off x="457200" y="1752600"/>
            <a:ext cx="7620000" cy="43735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172201"/>
            <a:ext cx="3429000" cy="304800"/>
          </a:xfrm>
          <a:prstGeom prst="rect">
            <a:avLst/>
          </a:prstGeom>
        </p:spPr>
        <p:txBody>
          <a:bodyPr vert="horz" lIns="91440" tIns="45720" rIns="91440" bIns="0" rtlCol="0" anchor="b"/>
          <a:lstStyle>
            <a:lvl1pPr algn="l">
              <a:defRPr sz="1000">
                <a:solidFill>
                  <a:schemeClr val="tx1"/>
                </a:solidFill>
              </a:defRPr>
            </a:lvl1pPr>
          </a:lstStyle>
          <a:p>
            <a:fld id="{17D0EFEE-2756-4A20-BF2A-63F0A94F99AC}" type="datetime4">
              <a:rPr lang="en-US" smtClean="0"/>
              <a:pPr/>
              <a:t>August 16, 2022</a:t>
            </a:fld>
            <a:endParaRPr lang="en-US" dirty="0"/>
          </a:p>
        </p:txBody>
      </p:sp>
      <p:sp>
        <p:nvSpPr>
          <p:cNvPr id="5" name="Footer Placeholder 4"/>
          <p:cNvSpPr>
            <a:spLocks noGrp="1"/>
          </p:cNvSpPr>
          <p:nvPr>
            <p:ph type="ftr" sz="quarter" idx="3"/>
          </p:nvPr>
        </p:nvSpPr>
        <p:spPr>
          <a:xfrm>
            <a:off x="457200" y="6492875"/>
            <a:ext cx="3429000" cy="283845"/>
          </a:xfrm>
          <a:prstGeom prst="rect">
            <a:avLst/>
          </a:prstGeom>
        </p:spPr>
        <p:txBody>
          <a:bodyPr vert="horz" lIns="91440" tIns="45720" rIns="91440" bIns="45720" rtlCol="0" anchor="t"/>
          <a:lstStyle>
            <a:lvl1pPr algn="l">
              <a:defRPr sz="1000">
                <a:solidFill>
                  <a:schemeClr val="tx1"/>
                </a:solidFill>
              </a:defRPr>
            </a:lvl1pPr>
          </a:lstStyle>
          <a:p>
            <a:endParaRPr lang="en-US" dirty="0"/>
          </a:p>
        </p:txBody>
      </p:sp>
      <p:sp>
        <p:nvSpPr>
          <p:cNvPr id="6" name="Slide Number Placeholder 5"/>
          <p:cNvSpPr>
            <a:spLocks noGrp="1"/>
          </p:cNvSpPr>
          <p:nvPr>
            <p:ph type="sldNum" sz="quarter" idx="4"/>
          </p:nvPr>
        </p:nvSpPr>
        <p:spPr>
          <a:xfrm rot="16200000">
            <a:off x="8044814" y="683895"/>
            <a:ext cx="1315721" cy="365125"/>
          </a:xfrm>
          <a:prstGeom prst="rect">
            <a:avLst/>
          </a:prstGeom>
        </p:spPr>
        <p:txBody>
          <a:bodyPr vert="horz" lIns="91440" tIns="45720" rIns="91440" bIns="45720" rtlCol="0" anchor="ctr"/>
          <a:lstStyle>
            <a:lvl1pPr algn="r">
              <a:defRPr sz="2400" b="1">
                <a:solidFill>
                  <a:srgbClr val="FFFFFF"/>
                </a:solidFill>
              </a:defRPr>
            </a:lvl1pPr>
          </a:lstStyle>
          <a:p>
            <a:fld id="{F38DF745-7D3F-47F4-83A3-874385CFAA69}"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916" r:id="rId1"/>
    <p:sldLayoutId id="2147483914" r:id="rId2"/>
    <p:sldLayoutId id="2147483920" r:id="rId3"/>
    <p:sldLayoutId id="2147483913" r:id="rId4"/>
  </p:sldLayoutIdLst>
  <p:hf sldNum="0" hdr="0" ftr="0" dt="0"/>
  <p:txStyles>
    <p:titleStyle>
      <a:lvl1pPr algn="l" defTabSz="914400" rtl="0" eaLnBrk="1" latinLnBrk="0" hangingPunct="1">
        <a:spcBef>
          <a:spcPct val="0"/>
        </a:spcBef>
        <a:buNone/>
        <a:defRPr sz="2400" kern="1200" cap="all" spc="-60" baseline="0">
          <a:solidFill>
            <a:srgbClr val="6CB255"/>
          </a:solidFill>
          <a:latin typeface="+mj-lt"/>
          <a:ea typeface="+mj-ea"/>
          <a:cs typeface="+mj-cs"/>
        </a:defRPr>
      </a:lvl1pPr>
    </p:titleStyle>
    <p:bodyStyle>
      <a:lvl1pPr marL="0" indent="0" algn="l" defTabSz="914400" rtl="0" eaLnBrk="1" latinLnBrk="0" hangingPunct="1">
        <a:spcBef>
          <a:spcPct val="20000"/>
        </a:spcBef>
        <a:spcAft>
          <a:spcPts val="600"/>
        </a:spcAft>
        <a:buClr>
          <a:srgbClr val="6CB255"/>
        </a:buClr>
        <a:buFont typeface="Arial" pitchFamily="34" charset="0"/>
        <a:buNone/>
        <a:defRPr sz="2000" b="0" kern="1200">
          <a:solidFill>
            <a:schemeClr val="tx1"/>
          </a:solidFill>
          <a:latin typeface="+mn-lt"/>
          <a:ea typeface="+mn-ea"/>
          <a:cs typeface="+mn-cs"/>
        </a:defRPr>
      </a:lvl1pPr>
      <a:lvl2pPr marL="457200" indent="-182880" algn="l" defTabSz="914400" rtl="0" eaLnBrk="1" latinLnBrk="0" hangingPunct="1">
        <a:spcBef>
          <a:spcPct val="20000"/>
        </a:spcBef>
        <a:buClr>
          <a:srgbClr val="6CB255"/>
        </a:buClr>
        <a:buFont typeface="Arial" pitchFamily="34" charset="0"/>
        <a:buChar char="•"/>
        <a:defRPr sz="2000" kern="1200">
          <a:solidFill>
            <a:srgbClr val="000000"/>
          </a:solidFill>
          <a:latin typeface="+mn-lt"/>
          <a:ea typeface="+mn-ea"/>
          <a:cs typeface="+mn-cs"/>
        </a:defRPr>
      </a:lvl2pPr>
      <a:lvl3pPr marL="11430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3pPr>
      <a:lvl4pPr marL="1600200" indent="-228600" algn="l" defTabSz="914400" rtl="0" eaLnBrk="1" latinLnBrk="0" hangingPunct="1">
        <a:spcBef>
          <a:spcPct val="20000"/>
        </a:spcBef>
        <a:buClr>
          <a:srgbClr val="6CB255"/>
        </a:buClr>
        <a:buFont typeface="Arial" pitchFamily="34" charset="0"/>
        <a:buChar char="•"/>
        <a:defRPr sz="1800" kern="1200">
          <a:solidFill>
            <a:srgbClr val="000000"/>
          </a:solidFill>
          <a:latin typeface="+mn-lt"/>
          <a:ea typeface="+mn-ea"/>
          <a:cs typeface="+mn-cs"/>
        </a:defRPr>
      </a:lvl4pPr>
      <a:lvl5pPr marL="2057400" indent="-228600" algn="l" defTabSz="914400" rtl="0" eaLnBrk="1" latinLnBrk="0" hangingPunct="1">
        <a:spcBef>
          <a:spcPct val="20000"/>
        </a:spcBef>
        <a:buClr>
          <a:srgbClr val="6CB255"/>
        </a:buClr>
        <a:buFont typeface="Arial" pitchFamily="34" charset="0"/>
        <a:buChar char="•"/>
        <a:defRPr sz="1800" kern="1200" baseline="0">
          <a:solidFill>
            <a:srgbClr val="000000"/>
          </a:solidFill>
          <a:latin typeface="+mn-lt"/>
          <a:ea typeface="+mn-ea"/>
          <a:cs typeface="+mn-cs"/>
        </a:defRPr>
      </a:lvl5pPr>
      <a:lvl6pPr marL="25146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6pPr>
      <a:lvl7pPr marL="29718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7pPr>
      <a:lvl8pPr marL="34290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8pPr>
      <a:lvl9pPr marL="3886200" indent="-228600" algn="l" defTabSz="914400" rtl="0" eaLnBrk="1" latinLnBrk="0" hangingPunct="1">
        <a:spcBef>
          <a:spcPct val="20000"/>
        </a:spcBef>
        <a:buClr>
          <a:schemeClr val="tx2"/>
        </a:buClr>
        <a:buFont typeface="Arial" pitchFamily="34" charset="0"/>
        <a:buChar char="•"/>
        <a:defRPr sz="16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png"/><Relationship Id="rId1" Type="http://schemas.openxmlformats.org/officeDocument/2006/relationships/slideLayout" Target="../slideLayouts/slideLayout4.xml"/></Relationships>
</file>

<file path=ppt/slides/_rels/slide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7.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0.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2.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3.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4.jpe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37.jpeg"/><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8.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39.jpe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0.jp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1.jp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3.jpe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4.jpe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5.jp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7.jpeg"/><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8.jpe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49.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50.jp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txBox="1">
            <a:spLocks/>
          </p:cNvSpPr>
          <p:nvPr/>
        </p:nvSpPr>
        <p:spPr>
          <a:xfrm>
            <a:off x="0" y="789677"/>
            <a:ext cx="9144000" cy="709154"/>
          </a:xfrm>
          <a:prstGeom prst="rect">
            <a:avLst/>
          </a:prstGeom>
        </p:spPr>
        <p:txBody>
          <a:bodyPr/>
          <a:lstStyle>
            <a:lvl1pPr algn="l" defTabSz="914400" rtl="0" eaLnBrk="1" latinLnBrk="0" hangingPunct="1">
              <a:spcBef>
                <a:spcPct val="0"/>
              </a:spcBef>
              <a:buNone/>
              <a:defRPr sz="3600" kern="1200" cap="all" spc="-60" baseline="0">
                <a:solidFill>
                  <a:srgbClr val="6CB255"/>
                </a:solidFill>
                <a:latin typeface="+mj-lt"/>
                <a:ea typeface="+mj-ea"/>
                <a:cs typeface="+mj-cs"/>
              </a:defRPr>
            </a:lvl1pPr>
          </a:lstStyle>
          <a:p>
            <a:pPr algn="ctr"/>
            <a:r>
              <a:rPr lang="en-US" dirty="0"/>
              <a:t>microbiology</a:t>
            </a:r>
          </a:p>
          <a:p>
            <a:pPr algn="ctr"/>
            <a:endParaRPr lang="en-US" sz="1800" cap="none" dirty="0">
              <a:solidFill>
                <a:schemeClr val="accent3">
                  <a:lumMod val="20000"/>
                  <a:lumOff val="80000"/>
                </a:schemeClr>
              </a:solidFill>
              <a:latin typeface="+mn-lt"/>
            </a:endParaRPr>
          </a:p>
          <a:p>
            <a:pPr algn="ctr"/>
            <a:r>
              <a:rPr lang="en-US" sz="2000" b="1" cap="none" dirty="0">
                <a:solidFill>
                  <a:srgbClr val="212F62"/>
                </a:solidFill>
                <a:latin typeface="+mn-lt"/>
              </a:rPr>
              <a:t>Chapter 2 </a:t>
            </a:r>
            <a:r>
              <a:rPr lang="en-US" sz="2000" b="1" dirty="0">
                <a:solidFill>
                  <a:srgbClr val="212F62"/>
                </a:solidFill>
                <a:latin typeface="+mn-lt"/>
              </a:rPr>
              <a:t>HOW WE SEE THE INVISIBLE WORLD</a:t>
            </a:r>
          </a:p>
          <a:p>
            <a:pPr algn="ctr"/>
            <a:r>
              <a:rPr lang="en-US" sz="1600" cap="none" dirty="0">
                <a:solidFill>
                  <a:schemeClr val="tx1"/>
                </a:solidFill>
                <a:latin typeface="+mn-lt"/>
              </a:rPr>
              <a:t>PowerPoint Image Slideshow</a:t>
            </a:r>
          </a:p>
        </p:txBody>
      </p:sp>
      <p:pic>
        <p:nvPicPr>
          <p:cNvPr id="4" name="Picture 3"/>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3562758" y="2517984"/>
            <a:ext cx="2010682" cy="2602716"/>
          </a:xfrm>
          <a:prstGeom prst="rect">
            <a:avLst/>
          </a:prstGeom>
          <a:effectLst>
            <a:reflection blurRad="6350" stA="52000" endA="300" endPos="35000" dir="5400000" sy="-100000" algn="bl" rotWithShape="0"/>
          </a:effectLst>
          <a:scene3d>
            <a:camera prst="obliqueTopLeft"/>
            <a:lightRig rig="threePt" dir="t"/>
          </a:scene3d>
        </p:spPr>
      </p:pic>
      <p:pic>
        <p:nvPicPr>
          <p:cNvPr id="1027" name="Picture 3"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315200" y="5504688"/>
            <a:ext cx="1588122" cy="10789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224431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a:t>
            </a:r>
          </a:p>
        </p:txBody>
      </p:sp>
      <p:pic>
        <p:nvPicPr>
          <p:cNvPr id="2" name="Picture Placeholder 1" descr="The left image shows a clear background with chains of solid purple rods and larger circular cells. The larger cells contain darker purple blotches inside each cell. The right image shows a black background with thin, glowing spiral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4274" b="-14274"/>
          <a:stretch>
            <a:fillRect/>
          </a:stretch>
        </p:blipFill>
        <p:spPr/>
      </p:pic>
      <p:sp>
        <p:nvSpPr>
          <p:cNvPr id="7" name="Text Placeholder 6"/>
          <p:cNvSpPr>
            <a:spLocks noGrp="1"/>
          </p:cNvSpPr>
          <p:nvPr>
            <p:ph type="body" sz="quarter" idx="14"/>
          </p:nvPr>
        </p:nvSpPr>
        <p:spPr/>
        <p:txBody>
          <a:bodyPr>
            <a:noAutofit/>
          </a:bodyPr>
          <a:lstStyle/>
          <a:p>
            <a:r>
              <a:rPr lang="en-US" sz="1300" dirty="0"/>
              <a:t>Different types of microscopy are used to visualize different structures. Brightfield microscopy (left) renders a darker image on a lighter background, producing a clear image of these </a:t>
            </a:r>
            <a:r>
              <a:rPr lang="en-US" sz="1300" i="1" dirty="0"/>
              <a:t>Bacillus anthracis</a:t>
            </a:r>
            <a:r>
              <a:rPr lang="en-US" sz="1300" dirty="0"/>
              <a:t> cells in cerebrospinal fluid (the rod-shaped bacterial cells are surrounded by larger white blood cells). Darkfield microscopy (right) increases contrast, rendering a brighter image on a darker background, as demonstrated by this image of the bacterium </a:t>
            </a:r>
            <a:r>
              <a:rPr lang="en-US" sz="1300" i="1" dirty="0"/>
              <a:t>Borrelia burgdorferi</a:t>
            </a:r>
            <a:r>
              <a:rPr lang="en-US" sz="1300" dirty="0"/>
              <a:t>, which causes Lyme disease. (credit left: modification of work by Centers for Disease Control and Prevention; credit right: modification of work by American Society for Microbiology)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99969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a:t>
            </a:r>
          </a:p>
        </p:txBody>
      </p:sp>
      <p:pic>
        <p:nvPicPr>
          <p:cNvPr id="2" name="Picture Placeholder 1" descr="Figure a shows a wavy line with evenly repeating waves upwards and downwards. A straight line through the center of the wavy line indicates the base of the waves. The distance from the peak of one wave to another is the wavelength. The distance from the baseline to the peak of a wave or the distance from the baseline to the trough of a wave is called the amplitude. Figure b shows three waves with unit time labeled across the bottom. The top line has waves that are widely spread apart. Waves with a wide wavelength have a low frequency. The bottom line has waves that are close together. Waves with a narrow wavelength have a high frequency. The middle line has a medium wavelength and therefore a medium frequency."/>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27211" b="-27211"/>
          <a:stretch>
            <a:fillRect/>
          </a:stretch>
        </p:blipFill>
        <p:spPr/>
      </p:pic>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500" dirty="0"/>
              <a:t>The amplitude is the height of a wave, whereas the wavelength is the distance between one peak and the next. </a:t>
            </a:r>
          </a:p>
          <a:p>
            <a:pPr marL="342900" indent="-342900">
              <a:buFontTx/>
              <a:buAutoNum type="alphaLcParenBoth"/>
            </a:pPr>
            <a:r>
              <a:rPr lang="en-US" sz="1500" dirty="0"/>
              <a:t>These waves have different frequencies, or rates of vibration. The wave at the top has the lowest frequency, since it has the fewest peaks per unit time. The wave at the bottom has the highest frequency.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79685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a:t>
            </a:r>
          </a:p>
        </p:txBody>
      </p:sp>
      <p:pic>
        <p:nvPicPr>
          <p:cNvPr id="2" name="Picture Placeholder 1" descr="Figure a shows the tips of a person’s gloved hands holding a clear plate with a lid. The plate contains a reddish material in the bottom of the plate. Figure b shows a piece of metal in a person’s hands. The material is dark with some shiny region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6786" b="-6786"/>
          <a:stretch>
            <a:fillRect/>
          </a:stretch>
        </p:blipFill>
        <p:spPr/>
      </p:pic>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370" dirty="0"/>
              <a:t>A Petri dish is made of transparent plastic or glass, which allows transmission of a high proportion of light. This transparency allows us to see through the sides of the dish to view the contents. </a:t>
            </a:r>
          </a:p>
          <a:p>
            <a:pPr marL="342900" indent="-342900">
              <a:buFontTx/>
              <a:buAutoNum type="alphaLcParenBoth"/>
            </a:pPr>
            <a:r>
              <a:rPr lang="en-US" sz="1370" dirty="0"/>
              <a:t>This slice of an iron meteorite is opaque (i.e., it has opacity). Light is not transmitted through the material, making it impossible to see the part of the hand covered by the object. (credit a: modification of work by Umberto Salvagnin; credit b: modification of work by “Waifer X”/Flickr)</a:t>
            </a:r>
            <a:endParaRPr lang="en-US" sz="1370" b="0" dirty="0">
              <a:solidFill>
                <a:schemeClr val="tx1"/>
              </a:solidFill>
            </a:endParaRP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6434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2.4</a:t>
            </a:r>
          </a:p>
        </p:txBody>
      </p:sp>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600" dirty="0"/>
              <a:t>Refraction occurs when light passes from one medium, such as air, to another, such as glass, changing the direction of the light rays. </a:t>
            </a:r>
          </a:p>
          <a:p>
            <a:pPr marL="342900" indent="-342900">
              <a:buFontTx/>
              <a:buAutoNum type="alphaLcParenBoth"/>
            </a:pPr>
            <a:r>
              <a:rPr lang="en-US" sz="1600" dirty="0"/>
              <a:t>As shown in this diagram, light rays passing from one medium to another may be either refracted or reflected.</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descr="Picture a shows a light beam aimed at a piece of glass. When the light beam hits the transparent glass material it bends by approximately 45°. This bent light ray is the refracted ray. The opaque material which the glass is sitting upon does not have any light shining through it. Diagram b shows an arrow labeled incident ray pointing at a 45° angle down towards a shaded region. At the point where the incident ray reaches the shaded region, two other arrows begin. One of these arrows points at a 90° angle from the incident ray (and away from the shaded region) and is the reflected ray. The second arrow continues through the shaded region but at a slightly bent angle from the incident ray. This second arrow is the reflected ray.">
            <a:extLst>
              <a:ext uri="{FF2B5EF4-FFF2-40B4-BE49-F238E27FC236}">
                <a16:creationId xmlns:a16="http://schemas.microsoft.com/office/drawing/2014/main" id="{14D2E439-B555-4A35-BA66-58308666CDBD}"/>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723929" y="1490614"/>
            <a:ext cx="7696142" cy="2763615"/>
          </a:xfrm>
          <a:prstGeom prst="rect">
            <a:avLst/>
          </a:prstGeom>
        </p:spPr>
      </p:pic>
    </p:spTree>
    <p:extLst>
      <p:ext uri="{BB962C8B-B14F-4D97-AF65-F5344CB8AC3E}">
        <p14:creationId xmlns:p14="http://schemas.microsoft.com/office/powerpoint/2010/main" val="121946973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2.5</a:t>
            </a:r>
          </a:p>
        </p:txBody>
      </p:sp>
      <p:pic>
        <p:nvPicPr>
          <p:cNvPr id="2" name="Picture Placeholder 1" descr="A photo shows a pole being placed in water. The pole looks like it bends where it hits the water."/>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1734" r="-31734"/>
          <a:stretch>
            <a:fillRect/>
          </a:stretch>
        </p:blipFill>
        <p:spPr/>
      </p:pic>
      <p:sp>
        <p:nvSpPr>
          <p:cNvPr id="7" name="Text Placeholder 6"/>
          <p:cNvSpPr>
            <a:spLocks noGrp="1"/>
          </p:cNvSpPr>
          <p:nvPr>
            <p:ph type="body" sz="quarter" idx="14"/>
          </p:nvPr>
        </p:nvSpPr>
        <p:spPr/>
        <p:txBody>
          <a:bodyPr>
            <a:normAutofit/>
          </a:bodyPr>
          <a:lstStyle/>
          <a:p>
            <a:r>
              <a:rPr lang="en-US" sz="1600" dirty="0"/>
              <a:t>This straight pole appears to bend at an angle as it enters the water. This optical illusion is due to the large difference between the refractive indices of air and water.</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583997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2.6</a:t>
            </a:r>
          </a:p>
        </p:txBody>
      </p:sp>
      <p:pic>
        <p:nvPicPr>
          <p:cNvPr id="2" name="Picture Placeholder 1" descr="Diagram a (prism) shows a clear pyramid with light entering one surface. The light leaving the other surface is bent and is the refracted light. A dotted line indicates the path the original light beam would have taken had it not bent. The region above the dotted line is labeled high refractive index; the region below the line is labeled low refractive index. Diagram b (convex lens) shows a lens with a bulge in the center. Light enters one either side of the dome and is focused to a point past the lens and in line with the center of the dome. The point at which the light focuses is the focal point; the distance from the focal point to the center of the lens is the focal length. Diagram c (concave lens) shows a lens that curves inward on either side. Light entering this lens is bent outwards, away from the center of the lens’s curve. A dotted line shows the linear path backwards for each of the bent light beams. The point at which all the dotted lines meet (which is on the other side of the lens) is the focal poin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26587" b="-26587"/>
          <a:stretch>
            <a:fillRect/>
          </a:stretch>
        </p:blipFill>
        <p:spPr/>
      </p:pic>
      <p:sp>
        <p:nvSpPr>
          <p:cNvPr id="7" name="Text Placeholder 6"/>
          <p:cNvSpPr>
            <a:spLocks noGrp="1"/>
          </p:cNvSpPr>
          <p:nvPr>
            <p:ph type="body" sz="quarter" idx="14"/>
          </p:nvPr>
        </p:nvSpPr>
        <p:spPr/>
        <p:txBody>
          <a:bodyPr rIns="36000">
            <a:noAutofit/>
          </a:bodyPr>
          <a:lstStyle/>
          <a:p>
            <a:pPr marL="342900" indent="-342900">
              <a:buFontTx/>
              <a:buAutoNum type="alphaLcParenBoth"/>
            </a:pPr>
            <a:r>
              <a:rPr lang="en-US" sz="1460" dirty="0"/>
              <a:t>A lens is like a collection of prisms, such as the one shown here. </a:t>
            </a:r>
          </a:p>
          <a:p>
            <a:pPr marL="342900" indent="-342900">
              <a:buFontTx/>
              <a:buAutoNum type="alphaLcParenBoth"/>
            </a:pPr>
            <a:r>
              <a:rPr lang="en-US" sz="1460" dirty="0"/>
              <a:t>When light passes through a convex lens, it is refracted toward a focal point on the other side of the lens. The focal length is the distance to the focal point.</a:t>
            </a:r>
            <a:endParaRPr lang="en-US" sz="1460" b="0" dirty="0">
              <a:solidFill>
                <a:schemeClr val="tx1"/>
              </a:solidFill>
            </a:endParaRPr>
          </a:p>
          <a:p>
            <a:pPr marL="342900" indent="-342900">
              <a:buFontTx/>
              <a:buAutoNum type="alphaLcParenBoth"/>
            </a:pPr>
            <a:r>
              <a:rPr lang="en-US" sz="1460" dirty="0"/>
              <a:t>Light passing through a concave lens is refracted away from a focal point in front of the lens.</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246888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2.7</a:t>
            </a:r>
          </a:p>
        </p:txBody>
      </p:sp>
      <p:pic>
        <p:nvPicPr>
          <p:cNvPr id="2" name="Picture Placeholder 1" descr="A series of scales indicate that the image shows the lowest wavelength (10 superscript -18 m) on the left and the highest wavelength (10 superscript 6 m) on the right. The frequencies range from over 10 superscript 24 Hzon the left to 1 Hz on the right. The energies range from 10 superscript 12 ev on the left to 10 superscript -12 on the right. The types of radiation listed above these scales (from left to right) is: cosmic radiation, gamma rays, X-rays, ultra-violet, visible, infrared, Terahertz radiation, radar, television and radion broadcasting, and AC circuits. The visible light portion of the spectrum is pulled out and shows blue light at 400 nm, green light at 500 nm, yellow light at 600 nm, and red light at 700 nm."/>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192" r="-1192"/>
          <a:stretch>
            <a:fillRect/>
          </a:stretch>
        </p:blipFill>
        <p:spPr/>
      </p:pic>
      <p:sp>
        <p:nvSpPr>
          <p:cNvPr id="7" name="Text Placeholder 6"/>
          <p:cNvSpPr>
            <a:spLocks noGrp="1"/>
          </p:cNvSpPr>
          <p:nvPr>
            <p:ph type="body" sz="quarter" idx="14"/>
          </p:nvPr>
        </p:nvSpPr>
        <p:spPr/>
        <p:txBody>
          <a:bodyPr>
            <a:noAutofit/>
          </a:bodyPr>
          <a:lstStyle/>
          <a:p>
            <a:r>
              <a:rPr lang="en-US" sz="1600" dirty="0"/>
              <a:t>The electromagnetic spectrum ranges from high-frequency gamma rays to low-frequency radio waves. Visible light is the relatively small range of electromagnetic frequencies that can be sensed by the human eye. On the electromagnetic spectrum, visible light falls between ultraviolet and infrared light. (credit: modification of work by Johannes Ahlmann)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17563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2.8</a:t>
            </a:r>
          </a:p>
        </p:txBody>
      </p:sp>
      <p:pic>
        <p:nvPicPr>
          <p:cNvPr id="2" name="Picture Placeholder 1" descr="An image shows a large cell in the foreground and other cells further in the background. Each cell has an irregular shape with a large blue circle in the center. Green lines surround the blue circle and span out towards the edges of the cell. The rest of the cell is red with a bright red edge. The background of the image is black."/>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2641" r="-32641"/>
          <a:stretch>
            <a:fillRect/>
          </a:stretch>
        </p:blipFill>
        <p:spPr/>
      </p:pic>
      <p:sp>
        <p:nvSpPr>
          <p:cNvPr id="7" name="Text Placeholder 6"/>
          <p:cNvSpPr>
            <a:spLocks noGrp="1"/>
          </p:cNvSpPr>
          <p:nvPr>
            <p:ph type="body" sz="quarter" idx="14"/>
          </p:nvPr>
        </p:nvSpPr>
        <p:spPr/>
        <p:txBody>
          <a:bodyPr>
            <a:noAutofit/>
          </a:bodyPr>
          <a:lstStyle/>
          <a:p>
            <a:r>
              <a:rPr lang="en-US" sz="1460" dirty="0"/>
              <a:t>The fluorescent dyes absorbed by these bovine pulmonary artery endothelial cells emit brilliant colors when excited by ultraviolet light under a fluorescence microscope. Various cell structures absorb different dyes. The nuclei are stained blue with 4’,6-diamidino-2-phenylindole (DAPI); microtubles are marked green by an antibody bound to FITC; and actin filaments are labeled red with phalloidin bound to tetramethylrhodamine (TRITC). (credit: National Institutes of Health)</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996859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2.9</a:t>
            </a:r>
          </a:p>
        </p:txBody>
      </p:sp>
      <p:pic>
        <p:nvPicPr>
          <p:cNvPr id="2" name="Picture Placeholder 1" descr="Photo a is of Antonie van Leeuwenhoek. Photo b is of a small metal plate with a long screw attached along its length. The tip of the screw is a fine point that sits just in front of an opening on the plate. Photo c is a portrait of Galileo Galilei."/>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3681" b="-13681"/>
          <a:stretch>
            <a:fillRect/>
          </a:stretch>
        </p:blipFill>
        <p:spPr/>
      </p:pic>
      <p:sp>
        <p:nvSpPr>
          <p:cNvPr id="7" name="Text Placeholder 6"/>
          <p:cNvSpPr>
            <a:spLocks noGrp="1"/>
          </p:cNvSpPr>
          <p:nvPr>
            <p:ph type="body" sz="quarter" idx="14"/>
          </p:nvPr>
        </p:nvSpPr>
        <p:spPr/>
        <p:txBody>
          <a:bodyPr>
            <a:noAutofit/>
          </a:bodyPr>
          <a:lstStyle/>
          <a:p>
            <a:pPr marL="228600" indent="-228600">
              <a:buAutoNum type="alphaLcParenBoth"/>
            </a:pPr>
            <a:r>
              <a:rPr lang="en-US" sz="1200" dirty="0"/>
              <a:t>Antonie van Leeuwenhoek (1632–1723) is credited as being the first person to observe microbes, including bacteria, which he called “animalcules” and “wee little beasties.”</a:t>
            </a:r>
          </a:p>
          <a:p>
            <a:pPr marL="228600" indent="-228600">
              <a:buAutoNum type="alphaLcParenBoth"/>
            </a:pPr>
            <a:r>
              <a:rPr lang="en-US" sz="1200" dirty="0"/>
              <a:t>Even though van Leeuwenhoek’s microscopes were simple microscopes (as seen in this replica), they were more powerful and provided better resolution than the compound microscopes of his day.</a:t>
            </a:r>
          </a:p>
          <a:p>
            <a:pPr marL="228600" indent="-228600">
              <a:buAutoNum type="alphaLcParenBoth"/>
            </a:pPr>
            <a:r>
              <a:rPr lang="en-US" sz="1200" dirty="0"/>
              <a:t>Though more famous for developing the telescope, Galileo Galilei (1564–1642) was also one of the pioneers of microscopy. (credit b: modification of work by “Wellcome Images”/Wikimedia Commons)</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761913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2.10</a:t>
            </a:r>
          </a:p>
        </p:txBody>
      </p:sp>
      <p:pic>
        <p:nvPicPr>
          <p:cNvPr id="2" name="Picture Placeholder 1" descr="The microscope drawing in a shows a tube with an eyepiece at the top and a small lens pointed at the circle on the base of the apparatus. A larger lens focuses light from a candle at the circle on the base of the apparatus. Figure b shows a drawing of a leaf at the bottom above that is a black circle with two large, irregular shaped regions. Each of these regions is filled with tiny white rectangles arranged in row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20645" r="-20645"/>
          <a:stretch>
            <a:fillRect/>
          </a:stretch>
        </p:blipFill>
        <p:spPr/>
      </p:pic>
      <p:sp>
        <p:nvSpPr>
          <p:cNvPr id="7" name="Text Placeholder 6"/>
          <p:cNvSpPr>
            <a:spLocks noGrp="1"/>
          </p:cNvSpPr>
          <p:nvPr>
            <p:ph type="body" sz="quarter" idx="14"/>
          </p:nvPr>
        </p:nvSpPr>
        <p:spPr/>
        <p:txBody>
          <a:bodyPr>
            <a:normAutofit/>
          </a:bodyPr>
          <a:lstStyle/>
          <a:p>
            <a:r>
              <a:rPr lang="en-US" sz="1600" dirty="0"/>
              <a:t>Robert Hooke used his </a:t>
            </a:r>
            <a:r>
              <a:rPr lang="en-US" sz="1600" dirty="0">
                <a:solidFill>
                  <a:srgbClr val="6CB255"/>
                </a:solidFill>
              </a:rPr>
              <a:t>(a) </a:t>
            </a:r>
            <a:r>
              <a:rPr lang="en-US" sz="1600" dirty="0"/>
              <a:t>compound microscope to view </a:t>
            </a:r>
            <a:r>
              <a:rPr lang="en-US" sz="1600" dirty="0">
                <a:solidFill>
                  <a:srgbClr val="6CB255"/>
                </a:solidFill>
              </a:rPr>
              <a:t>(b)</a:t>
            </a:r>
            <a:r>
              <a:rPr lang="en-US" sz="1600" dirty="0"/>
              <a:t> cork cells. Both of these engravings are from his seminal work </a:t>
            </a:r>
            <a:r>
              <a:rPr lang="en-US" sz="1600" i="1" dirty="0"/>
              <a:t>Micrographia</a:t>
            </a:r>
            <a:r>
              <a:rPr lang="en-US" sz="1600" dirty="0"/>
              <a:t>, published in 1665.</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0694803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sz="2400" dirty="0">
                <a:solidFill>
                  <a:srgbClr val="6CB255"/>
                </a:solidFill>
              </a:rPr>
              <a:t>Figure 2.11</a:t>
            </a:r>
          </a:p>
        </p:txBody>
      </p:sp>
      <p:pic>
        <p:nvPicPr>
          <p:cNvPr id="2" name="Picture Placeholder 1" descr="A photo of Zaccharias Janssen is show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3777" b="-3777"/>
          <a:stretch>
            <a:fillRect/>
          </a:stretch>
        </p:blipFill>
        <p:spPr>
          <a:xfrm>
            <a:off x="457200" y="1108075"/>
            <a:ext cx="4032250" cy="5256213"/>
          </a:xfrm>
        </p:spPr>
      </p:pic>
      <p:sp>
        <p:nvSpPr>
          <p:cNvPr id="14" name="Text Placeholder 13"/>
          <p:cNvSpPr>
            <a:spLocks noGrp="1"/>
          </p:cNvSpPr>
          <p:nvPr>
            <p:ph type="body" sz="quarter" idx="14"/>
          </p:nvPr>
        </p:nvSpPr>
        <p:spPr>
          <a:xfrm>
            <a:off x="4606925" y="1107617"/>
            <a:ext cx="3913188" cy="5256973"/>
          </a:xfrm>
        </p:spPr>
        <p:txBody>
          <a:bodyPr>
            <a:noAutofit/>
          </a:bodyPr>
          <a:lstStyle/>
          <a:p>
            <a:r>
              <a:rPr lang="en-US" sz="1600" dirty="0">
                <a:solidFill>
                  <a:schemeClr val="tx1"/>
                </a:solidFill>
              </a:rPr>
              <a:t>Zaccharias Janssen, along with his father Hans, may have invented the telescope, the simple microscope, and the compound microscope during the late 1500s or early 1600s. The historical evidence is inconclusive.</a:t>
            </a:r>
          </a:p>
        </p:txBody>
      </p:sp>
      <p:pic>
        <p:nvPicPr>
          <p:cNvPr id="2050"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8509631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2.12</a:t>
            </a:r>
          </a:p>
        </p:txBody>
      </p:sp>
      <p:pic>
        <p:nvPicPr>
          <p:cNvPr id="2" name="Picture Placeholder 1" descr="A photo of a microscope is shown. The base contains a light source (the illuminator, #7) and a knob to adjust light intensity (rheostat). Attached at one end of the base is an arm with a stage (#9) to hold the specimen projecting out halfway up the arm. The center of the stage has an opening to allow light from the illuminator through. Below this opening are the diaphragm and condenser (#8). Above this opening are four lenses (objective lenses, #3) on a revolving nose piece (#2) that holds the multiple objectives. Above the objective lenses are two eye pieces (#1) called the ocular lenses. Attached to the bottom of the stage are two knobs for moving the slide (x-y mechanical stage knobs). On the arm below the stage are 2 knobs for focusing the image. The larger knob (#4) is the coarse focus, and the smaller knob (#5) is the fine focu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48080" r="-48080"/>
          <a:stretch>
            <a:fillRect/>
          </a:stretch>
        </p:blipFill>
        <p:spPr/>
      </p:pic>
      <p:sp>
        <p:nvSpPr>
          <p:cNvPr id="7" name="Text Placeholder 6"/>
          <p:cNvSpPr>
            <a:spLocks noGrp="1"/>
          </p:cNvSpPr>
          <p:nvPr>
            <p:ph type="body" sz="quarter" idx="14"/>
          </p:nvPr>
        </p:nvSpPr>
        <p:spPr/>
        <p:txBody>
          <a:bodyPr>
            <a:normAutofit/>
          </a:bodyPr>
          <a:lstStyle/>
          <a:p>
            <a:r>
              <a:rPr lang="en-US" sz="1600" dirty="0"/>
              <a:t>Components of a typical brightfield microscope.</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8478152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2.13</a:t>
            </a:r>
          </a:p>
        </p:txBody>
      </p:sp>
      <p:pic>
        <p:nvPicPr>
          <p:cNvPr id="2" name="Picture Placeholder 1" descr="Photograph a shows a close-up of a lens from a brightfield microscope. The lens is nearly touching the slide below it and there is oil spanning the space between the lens and the slide. Diagram b light traveling from the light source through the microscope slide. Without oil, the light refracts as it passes through the glass. Many of these refracted light beams do not meet the lens of the microscope. With immersion oil, the light beams travel from the slide, through the immersion oil, to the microscope lens with minimal refractio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5865" r="-5865"/>
          <a:stretch>
            <a:fillRect/>
          </a:stretch>
        </p:blipFill>
        <p:spPr/>
      </p:pic>
      <p:sp>
        <p:nvSpPr>
          <p:cNvPr id="7" name="Text Placeholder 6"/>
          <p:cNvSpPr>
            <a:spLocks noGrp="1"/>
          </p:cNvSpPr>
          <p:nvPr>
            <p:ph type="body" sz="quarter" idx="14"/>
          </p:nvPr>
        </p:nvSpPr>
        <p:spPr/>
        <p:txBody>
          <a:bodyPr rIns="72000">
            <a:noAutofit/>
          </a:bodyPr>
          <a:lstStyle/>
          <a:p>
            <a:pPr marL="342900" indent="-342900">
              <a:buFontTx/>
              <a:buAutoNum type="alphaLcParenBoth"/>
            </a:pPr>
            <a:r>
              <a:rPr lang="en-US" sz="1500" dirty="0"/>
              <a:t>Oil immersion lenses like this one are used to improve resolution. </a:t>
            </a:r>
          </a:p>
          <a:p>
            <a:pPr marL="342900" indent="-342900">
              <a:buFontTx/>
              <a:buAutoNum type="alphaLcParenBoth"/>
            </a:pPr>
            <a:r>
              <a:rPr lang="en-US" sz="1500" dirty="0"/>
              <a:t>Because immersion oil and glass have very similar refractive indices, there is a minimal amount of refraction before the light reaches the lens. Without immersion oil, light scatters as it passes through the air above the slide, degrading the resolution of the image.</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45843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2.14</a:t>
            </a:r>
          </a:p>
        </p:txBody>
      </p:sp>
      <p:pic>
        <p:nvPicPr>
          <p:cNvPr id="2" name="Picture Placeholder 1" descr="A diagram showing the light path in a darkfield microscope. Light travels from the light source to an opaque light stop which blocks the center of the light beam. The outer beams are focused by a condenser lens onto the sample on the slide. The sample scatters some of the light. Another objective lens blocks direct illumination but transmits scattered ligh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59423" r="-59423"/>
          <a:stretch>
            <a:fillRect/>
          </a:stretch>
        </p:blipFill>
        <p:spPr/>
      </p:pic>
      <p:sp>
        <p:nvSpPr>
          <p:cNvPr id="7" name="Text Placeholder 6"/>
          <p:cNvSpPr>
            <a:spLocks noGrp="1"/>
          </p:cNvSpPr>
          <p:nvPr>
            <p:ph type="body" sz="quarter" idx="14"/>
          </p:nvPr>
        </p:nvSpPr>
        <p:spPr/>
        <p:txBody>
          <a:bodyPr rIns="36000">
            <a:normAutofit/>
          </a:bodyPr>
          <a:lstStyle/>
          <a:p>
            <a:r>
              <a:rPr lang="en-US" sz="1600" dirty="0"/>
              <a:t>An opaque light stop inserted into a brightfield microscope is used to produce a darkfield image. The light stop blocks light traveling directly from the illuminator to the objective lens, allowing only light reflected or refracted off the specimen to reach the eye.</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00354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2.15</a:t>
            </a:r>
          </a:p>
        </p:txBody>
      </p:sp>
      <p:pic>
        <p:nvPicPr>
          <p:cNvPr id="2" name="Picture Placeholder 1" descr="A micrograph shows a black background with a few small white spiral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6387" r="-36387"/>
          <a:stretch>
            <a:fillRect/>
          </a:stretch>
        </p:blipFill>
        <p:spPr/>
      </p:pic>
      <p:sp>
        <p:nvSpPr>
          <p:cNvPr id="7" name="Text Placeholder 6"/>
          <p:cNvSpPr>
            <a:spLocks noGrp="1"/>
          </p:cNvSpPr>
          <p:nvPr>
            <p:ph type="body" sz="quarter" idx="14"/>
          </p:nvPr>
        </p:nvSpPr>
        <p:spPr/>
        <p:txBody>
          <a:bodyPr>
            <a:normAutofit/>
          </a:bodyPr>
          <a:lstStyle/>
          <a:p>
            <a:r>
              <a:rPr lang="en-US" sz="1600" dirty="0"/>
              <a:t>Use of a darkfield microscope allows us to view living, unstained samples of the spirochete </a:t>
            </a:r>
            <a:r>
              <a:rPr lang="en-US" sz="1600" i="1" dirty="0"/>
              <a:t>Treponema pallidum</a:t>
            </a:r>
            <a:r>
              <a:rPr lang="en-US" sz="1600" dirty="0"/>
              <a:t>. Similar to a photographic negative, the spirochetes appear bright against a dark background. (credit: Centers for Disease Control and Prevention)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694120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2.16</a:t>
            </a:r>
          </a:p>
        </p:txBody>
      </p:sp>
      <p:pic>
        <p:nvPicPr>
          <p:cNvPr id="2" name="Picture Placeholder 1" descr="A diagram shows the path of light through a phase-contrast microscope. Light from the light source travels to the annular ring in the condenser which produces a cone of light focused on the specimen. The specimen refracts or reflects light. Light traveling directly from the condenser lens (undiffracted light) and light traveling through the specimen (diffracted light) are out of phase when they pass through the objective and phase plates. Wavelengths in phase or out of phase either add together or cancel out each othe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55362" r="-55362"/>
          <a:stretch>
            <a:fillRect/>
          </a:stretch>
        </p:blipFill>
        <p:spPr/>
      </p:pic>
      <p:sp>
        <p:nvSpPr>
          <p:cNvPr id="7" name="Text Placeholder 6"/>
          <p:cNvSpPr>
            <a:spLocks noGrp="1"/>
          </p:cNvSpPr>
          <p:nvPr>
            <p:ph type="body" sz="quarter" idx="14"/>
          </p:nvPr>
        </p:nvSpPr>
        <p:spPr/>
        <p:txBody>
          <a:bodyPr>
            <a:normAutofit/>
          </a:bodyPr>
          <a:lstStyle/>
          <a:p>
            <a:r>
              <a:rPr lang="en-US" sz="1600" dirty="0"/>
              <a:t>This diagram of a phase-contrast microscope illustrates phase differences between light passing through the object and background. These differences are produced by passing the rays through different parts of a phase plate. The light rays are superimposed in the image plane, producing contrast due to their interference.</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682292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2.17</a:t>
            </a:r>
          </a:p>
        </p:txBody>
      </p:sp>
      <p:pic>
        <p:nvPicPr>
          <p:cNvPr id="2" name="Picture Placeholder 1" descr="Two micrographs of a cell on a dark background are shown. In the brightfield image the cell is a faint circle with a small grey circle in the center. In the phase-contrast image the cell is a bright circle with a bright circle in the cente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2231" b="-2231"/>
          <a:stretch>
            <a:fillRect/>
          </a:stretch>
        </p:blipFill>
        <p:spPr/>
      </p:pic>
      <p:sp>
        <p:nvSpPr>
          <p:cNvPr id="7" name="Text Placeholder 6"/>
          <p:cNvSpPr>
            <a:spLocks noGrp="1"/>
          </p:cNvSpPr>
          <p:nvPr>
            <p:ph type="body" sz="quarter" idx="14"/>
          </p:nvPr>
        </p:nvSpPr>
        <p:spPr/>
        <p:txBody>
          <a:bodyPr>
            <a:noAutofit/>
          </a:bodyPr>
          <a:lstStyle/>
          <a:p>
            <a:r>
              <a:rPr lang="en-US" sz="1470" dirty="0"/>
              <a:t>This figure compares a brightfield image (left) with a phase-contrast image (right) of the same unstained simple squamous epithelial cells. The cells are in the center and bottom right of each photograph (the irregular item above the cells is acellular debris). Notice that the unstained cells in the brightfield image are almost invisible against the background, whereas the cells in the phase-contrast image appear to glow against the background, revealing far more detail.</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46150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2.18</a:t>
            </a:r>
          </a:p>
        </p:txBody>
      </p:sp>
      <p:pic>
        <p:nvPicPr>
          <p:cNvPr id="2" name="Picture Placeholder 1" descr="A micrograph shows a chain of rectangles that have thick edges. The chains branch and have clusters of spheres on the ends. The entire image is variations of gray but the difference in depth between cells in front and behind each other is distinguishable."/>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41455" r="-41455"/>
          <a:stretch>
            <a:fillRect/>
          </a:stretch>
        </p:blipFill>
        <p:spPr/>
      </p:pic>
      <p:sp>
        <p:nvSpPr>
          <p:cNvPr id="7" name="Text Placeholder 6"/>
          <p:cNvSpPr>
            <a:spLocks noGrp="1"/>
          </p:cNvSpPr>
          <p:nvPr>
            <p:ph type="body" sz="quarter" idx="14"/>
          </p:nvPr>
        </p:nvSpPr>
        <p:spPr/>
        <p:txBody>
          <a:bodyPr>
            <a:normAutofit/>
          </a:bodyPr>
          <a:lstStyle/>
          <a:p>
            <a:r>
              <a:rPr lang="en-US" sz="1600" dirty="0"/>
              <a:t>A DIC image of </a:t>
            </a:r>
            <a:r>
              <a:rPr lang="en-US" sz="1600" i="1" dirty="0"/>
              <a:t>Fonsecaea pedrosoi</a:t>
            </a:r>
            <a:r>
              <a:rPr lang="en-US" sz="1600" dirty="0"/>
              <a:t> grown on modified Leonian’s agar. This fungus causes chromoblastomycosis, a chronic skin infection common in tropical and subtropical climates.</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387664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2.19</a:t>
            </a:r>
          </a:p>
        </p:txBody>
      </p:sp>
      <p:pic>
        <p:nvPicPr>
          <p:cNvPr id="2" name="Picture Placeholder 1" descr="Micrograph a shows fluorescent green spheres on a black background. Micrograph b shows fluorescent worm shapes on a black background. Diagram c depicts the process of direct immunofluorescence. In direct immunofluorescence a fluorochrome is attached to a primary antibody and the primary antibody is attached to the antigen. In indirect immunofluorescence the fluorochrome is attached to a secondary antibody. The secondary antibody is attached to the primary antibody; and the primary antibody is attached to the antige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40738" r="-40738"/>
          <a:stretch>
            <a:fillRect/>
          </a:stretch>
        </p:blipFill>
        <p:spPr/>
      </p:pic>
      <p:sp>
        <p:nvSpPr>
          <p:cNvPr id="7" name="Text Placeholder 6"/>
          <p:cNvSpPr>
            <a:spLocks noGrp="1"/>
          </p:cNvSpPr>
          <p:nvPr>
            <p:ph type="body" sz="quarter" idx="14"/>
          </p:nvPr>
        </p:nvSpPr>
        <p:spPr/>
        <p:txBody>
          <a:bodyPr>
            <a:noAutofit/>
          </a:bodyPr>
          <a:lstStyle/>
          <a:p>
            <a:pPr marL="228600" indent="-228600">
              <a:buAutoNum type="alphaLcParenBoth"/>
            </a:pPr>
            <a:r>
              <a:rPr lang="en-US" sz="1000" dirty="0"/>
              <a:t>A direct immunofluorescent stain is used to visualize </a:t>
            </a:r>
            <a:r>
              <a:rPr lang="en-US" sz="1000" i="1" dirty="0"/>
              <a:t>Neisseria gonorrhoeae</a:t>
            </a:r>
            <a:r>
              <a:rPr lang="en-US" sz="1000" dirty="0"/>
              <a:t>, the bacterium that causes gonorrhea.</a:t>
            </a:r>
          </a:p>
          <a:p>
            <a:pPr marL="228600" indent="-228600">
              <a:buAutoNum type="alphaLcParenBoth"/>
            </a:pPr>
            <a:r>
              <a:rPr lang="en-US" sz="1000" dirty="0"/>
              <a:t>An indirect immunofluorescent stain is used to visualize larvae of </a:t>
            </a:r>
            <a:r>
              <a:rPr lang="en-US" sz="1000" i="1" dirty="0"/>
              <a:t>Schistosoma mansoni</a:t>
            </a:r>
            <a:r>
              <a:rPr lang="en-US" sz="1000" dirty="0"/>
              <a:t>, a parasitic worm that causes schistosomiasis, an intestinal disease common in the tropics. In direct immunofluorescence, the stain is absorbed by a primary antibody, which binds to the antigen.</a:t>
            </a:r>
          </a:p>
          <a:p>
            <a:pPr marL="228600" indent="-228600">
              <a:buAutoNum type="alphaLcParenBoth"/>
            </a:pPr>
            <a:r>
              <a:rPr lang="en-US" sz="1000" dirty="0"/>
              <a:t>In indirect immunofluorescence, the stain is absorbed by a secondary antibody, which binds to a primary antibody, which, in turn, binds to the antigen. (credit a: modification of work by Centers for Disease Control and Prevention; credit b: modification of work by Centers for Disease Control and Prevention)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041297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2.20</a:t>
            </a:r>
          </a:p>
        </p:txBody>
      </p:sp>
      <p:pic>
        <p:nvPicPr>
          <p:cNvPr id="2" name="Picture Placeholder 1" descr="A micrograph showing purple spheres (cells) clustered in dark gray bundles (bulk glycan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3011" r="-13011"/>
          <a:stretch>
            <a:fillRect/>
          </a:stretch>
        </p:blipFill>
        <p:spPr/>
      </p:pic>
      <p:sp>
        <p:nvSpPr>
          <p:cNvPr id="7" name="Text Placeholder 6"/>
          <p:cNvSpPr>
            <a:spLocks noGrp="1"/>
          </p:cNvSpPr>
          <p:nvPr>
            <p:ph type="body" sz="quarter" idx="14"/>
          </p:nvPr>
        </p:nvSpPr>
        <p:spPr/>
        <p:txBody>
          <a:bodyPr>
            <a:normAutofit/>
          </a:bodyPr>
          <a:lstStyle/>
          <a:p>
            <a:r>
              <a:rPr lang="en-US" sz="1600" dirty="0"/>
              <a:t>Confocal microscopy can be used to visualize structures such as this roof-dwelling cyanobacterium biofilm. (credit: modification of work by American Society for Microbiology)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572239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2.21</a:t>
            </a:r>
          </a:p>
        </p:txBody>
      </p:sp>
      <p:pic>
        <p:nvPicPr>
          <p:cNvPr id="2" name="Picture Placeholder 1" descr="Photograph A shows a transmission electron microscope: a large-tube shaped machine attached to a desk next to a computer. Photograph b shows a scanning electron microscope: a machine with many projections sitting on a desk next to a compute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6439" r="-36439"/>
          <a:stretch>
            <a:fillRect/>
          </a:stretch>
        </p:blipFill>
        <p:spPr/>
      </p:pic>
      <p:sp>
        <p:nvSpPr>
          <p:cNvPr id="7" name="Text Placeholder 6"/>
          <p:cNvSpPr>
            <a:spLocks noGrp="1"/>
          </p:cNvSpPr>
          <p:nvPr>
            <p:ph type="body" sz="quarter" idx="14"/>
          </p:nvPr>
        </p:nvSpPr>
        <p:spPr/>
        <p:txBody>
          <a:bodyPr>
            <a:normAutofit/>
          </a:bodyPr>
          <a:lstStyle/>
          <a:p>
            <a:r>
              <a:rPr lang="en-US" sz="1600" dirty="0"/>
              <a:t>A transmission electron microscope (TEM).</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671708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2.22</a:t>
            </a:r>
          </a:p>
        </p:txBody>
      </p:sp>
      <p:pic>
        <p:nvPicPr>
          <p:cNvPr id="2" name="Picture Placeholder 1" descr="Diagrams comparing TEM and light microscopes are shown. In the light microscope light from the light source is focused by the condenser onto the specimen. The light is then further focused by the objective lens and the ocular lens and finally reaches the viewer. In a TEM, an electron gun releases electrons through a tube. These electrons are focused on the specimen by electromagnets on the edge of the tube. The electron beam then reaches the objective lens and finally the viewer."/>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47373" r="-47373"/>
          <a:stretch>
            <a:fillRect/>
          </a:stretch>
        </p:blipFill>
        <p:spPr/>
      </p:pic>
      <p:sp>
        <p:nvSpPr>
          <p:cNvPr id="7" name="Text Placeholder 6"/>
          <p:cNvSpPr>
            <a:spLocks noGrp="1"/>
          </p:cNvSpPr>
          <p:nvPr>
            <p:ph type="body" sz="quarter" idx="14"/>
          </p:nvPr>
        </p:nvSpPr>
        <p:spPr/>
        <p:txBody>
          <a:bodyPr>
            <a:normAutofit/>
          </a:bodyPr>
          <a:lstStyle/>
          <a:p>
            <a:r>
              <a:rPr lang="en-US" sz="1600" dirty="0"/>
              <a:t>Electron microscopes use magnets to focus electron beams similarly to the way that light microscopes use lenses to focus light.</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1460648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2.23</a:t>
            </a:r>
          </a:p>
        </p:txBody>
      </p:sp>
      <p:pic>
        <p:nvPicPr>
          <p:cNvPr id="2" name="Picture Placeholder 1" descr="The TEM diagram show a high voltage wire attached to an electron gun which releases a beam of electrons. The electron beam passes by the first condenser lens (connected to a condenser aperture), then the second condenser lens (also connected to a condenser aperture), and then through the specimen on the specimen holder and air lock (which is also connected to an objective lens and aperture). Finally, the electron beam travels to the fluorescent screen and camera. The SEM begins with an electron gun that fires electron beams through an anode, through a condenser lens, through scanning coils and on to the sample on the stage. A backscatter electron detector detects electrons that travel directly back from the sample; secondary electron detectors detect electrons that travel to the sides.&#10;&#10;"/>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8101" r="-18101"/>
          <a:stretch>
            <a:fillRect/>
          </a:stretch>
        </p:blipFill>
        <p:spPr/>
      </p:pic>
      <p:sp>
        <p:nvSpPr>
          <p:cNvPr id="7" name="Text Placeholder 6"/>
          <p:cNvSpPr>
            <a:spLocks noGrp="1"/>
          </p:cNvSpPr>
          <p:nvPr>
            <p:ph type="body" sz="quarter" idx="14"/>
          </p:nvPr>
        </p:nvSpPr>
        <p:spPr/>
        <p:txBody>
          <a:bodyPr>
            <a:normAutofit/>
          </a:bodyPr>
          <a:lstStyle/>
          <a:p>
            <a:r>
              <a:rPr lang="en-US" sz="1600" dirty="0"/>
              <a:t>These schematic illustrations compare the components of transmission electron microscopes and scanning electron microscopes.</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2378188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2.24</a:t>
            </a:r>
          </a:p>
        </p:txBody>
      </p:sp>
      <p:pic>
        <p:nvPicPr>
          <p:cNvPr id="2" name="Picture Placeholder 1" descr="Figure a shows A TEM micrograph with a clear background and a dark cell in the center. A double line outlines the edge of the cell and webs of material inside the cell are visible. Figure b shows an SEM micrograph that has large purple clusters on a green background with small holes. The three dimensionality of the purple clusters is apparen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7335" r="-7335"/>
          <a:stretch>
            <a:fillRect/>
          </a:stretch>
        </p:blipFill>
        <p:spPr/>
      </p:pic>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350" b="0" dirty="0">
                <a:solidFill>
                  <a:schemeClr val="tx1"/>
                </a:solidFill>
              </a:rPr>
              <a:t>This </a:t>
            </a:r>
            <a:r>
              <a:rPr lang="en-US" sz="1350" dirty="0"/>
              <a:t>TEM image of cells in a biofilm shows well-defined internal structures of the cells because of varying levels of opacity in the specimen. </a:t>
            </a:r>
          </a:p>
          <a:p>
            <a:pPr marL="342900" indent="-342900">
              <a:buFontTx/>
              <a:buAutoNum type="alphaLcParenBoth"/>
            </a:pPr>
            <a:r>
              <a:rPr lang="en-US" sz="1350" b="0" dirty="0">
                <a:solidFill>
                  <a:schemeClr val="tx1"/>
                </a:solidFill>
              </a:rPr>
              <a:t>This </a:t>
            </a:r>
            <a:r>
              <a:rPr lang="en-US" sz="1350" dirty="0"/>
              <a:t>color-enhanced SEM image of the bacterium </a:t>
            </a:r>
            <a:r>
              <a:rPr lang="en-US" sz="1350" i="1" dirty="0"/>
              <a:t>Staphylococcus </a:t>
            </a:r>
            <a:r>
              <a:rPr lang="en-US" sz="1350" i="1" dirty="0" err="1"/>
              <a:t>aureus</a:t>
            </a:r>
            <a:r>
              <a:rPr lang="en-US" sz="1350" dirty="0"/>
              <a:t> illustrates the ability of scanning electron microscopy to render three-dimensional images of the surface structure of cells. (credit a: modification of work by American Society for Microbiology; credit b: modification of work by Centers for Disease Control and Prevention)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0651124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2.25</a:t>
            </a:r>
          </a:p>
        </p:txBody>
      </p:sp>
      <p:pic>
        <p:nvPicPr>
          <p:cNvPr id="2" name="Picture Placeholder 1" descr="The stages of a biofilm are shown. In stage 1 (initial attachment), a few flagellated cells attach to a surface. In stage 2 (irreversible attachment) clumps of cells are found on the surface. In stage 3 (maturation) the clumps have enlarged. In stage 4 (maturation 2) the clumps have fused and enlarged greatly. In stage 5 (dispersal) the large clump releases flagellated cells away from the surface. These stages are also shown in micrographs: 1) small dots, 2) larger clumps, 3)larger clump, 4) a large mass, 5) a large mass with an opening at the top."/>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0716" r="-30716"/>
          <a:stretch>
            <a:fillRect/>
          </a:stretch>
        </p:blipFill>
        <p:spPr/>
      </p:pic>
      <p:sp>
        <p:nvSpPr>
          <p:cNvPr id="7" name="Text Placeholder 6"/>
          <p:cNvSpPr>
            <a:spLocks noGrp="1"/>
          </p:cNvSpPr>
          <p:nvPr>
            <p:ph type="body" sz="quarter" idx="14"/>
          </p:nvPr>
        </p:nvSpPr>
        <p:spPr/>
        <p:txBody>
          <a:bodyPr>
            <a:normAutofit/>
          </a:bodyPr>
          <a:lstStyle/>
          <a:p>
            <a:r>
              <a:rPr lang="en-US" sz="1600" dirty="0"/>
              <a:t>A biofilm forms when planktonic (free-floating) bacteria of one or more species adhere to a surface, produce slime, and form a colony. (credit: Public Library of Science)</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11281350"/>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2.26</a:t>
            </a:r>
          </a:p>
        </p:txBody>
      </p:sp>
      <p:pic>
        <p:nvPicPr>
          <p:cNvPr id="2" name="Picture Placeholder 1" descr="A micrograph with a black background containing many bright rectangles in clumps is shown."/>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0553" r="-10553"/>
          <a:stretch>
            <a:fillRect/>
          </a:stretch>
        </p:blipFill>
        <p:spPr/>
      </p:pic>
      <p:sp>
        <p:nvSpPr>
          <p:cNvPr id="7" name="Text Placeholder 6"/>
          <p:cNvSpPr>
            <a:spLocks noGrp="1"/>
          </p:cNvSpPr>
          <p:nvPr>
            <p:ph type="body" sz="quarter" idx="14"/>
          </p:nvPr>
        </p:nvSpPr>
        <p:spPr/>
        <p:txBody>
          <a:bodyPr>
            <a:normAutofit/>
          </a:bodyPr>
          <a:lstStyle/>
          <a:p>
            <a:r>
              <a:rPr lang="en-US" sz="1600" dirty="0"/>
              <a:t>In this image, multiple species of bacteria grow in a biofilm on stainless steel (stained with DAPI for epifluorescence miscroscopy). (credit: Ricardo </a:t>
            </a:r>
            <a:r>
              <a:rPr lang="en-US" sz="1600" dirty="0" err="1"/>
              <a:t>Murga</a:t>
            </a:r>
            <a:r>
              <a:rPr lang="en-US" sz="1600" dirty="0"/>
              <a:t>, Rodney </a:t>
            </a:r>
            <a:r>
              <a:rPr lang="en-US" sz="1600" dirty="0" err="1"/>
              <a:t>Donlan</a:t>
            </a:r>
            <a:r>
              <a:rPr lang="en-US" sz="1600" dirty="0"/>
              <a:t>)</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5720149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2.27</a:t>
            </a:r>
          </a:p>
        </p:txBody>
      </p:sp>
      <p:pic>
        <p:nvPicPr>
          <p:cNvPr id="2" name="Picture Placeholder 1" descr="Micrograph a shows circle arranged in repeating rows. Micrograph b shows long strands in a pile."/>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9072" r="-9072"/>
          <a:stretch>
            <a:fillRect/>
          </a:stretch>
        </p:blipFill>
        <p:spPr/>
      </p:pic>
      <p:sp>
        <p:nvSpPr>
          <p:cNvPr id="7" name="Text Placeholder 6"/>
          <p:cNvSpPr>
            <a:spLocks noGrp="1"/>
          </p:cNvSpPr>
          <p:nvPr>
            <p:ph type="body" sz="quarter" idx="14"/>
          </p:nvPr>
        </p:nvSpPr>
        <p:spPr/>
        <p:txBody>
          <a:bodyPr rIns="36000">
            <a:noAutofit/>
          </a:bodyPr>
          <a:lstStyle/>
          <a:p>
            <a:r>
              <a:rPr lang="en-US" sz="1350" dirty="0"/>
              <a:t>STMs and AFMs allow us to view images at the atomic level.</a:t>
            </a:r>
          </a:p>
          <a:p>
            <a:pPr marL="342900" indent="-342900">
              <a:buAutoNum type="alphaLcParenBoth"/>
            </a:pPr>
            <a:r>
              <a:rPr lang="en-US" sz="1350" dirty="0"/>
              <a:t>This STM image of a pure gold surface shows individual atoms of gold arranged in columns.</a:t>
            </a:r>
          </a:p>
          <a:p>
            <a:pPr marL="342900" indent="-342900">
              <a:buAutoNum type="alphaLcParenBoth"/>
            </a:pPr>
            <a:r>
              <a:rPr lang="en-US" sz="1350" dirty="0"/>
              <a:t>This AFM image shows long, strand-like molecules of </a:t>
            </a:r>
            <a:r>
              <a:rPr lang="en-US" sz="1350" dirty="0" err="1"/>
              <a:t>nanocellulose</a:t>
            </a:r>
            <a:r>
              <a:rPr lang="en-US" sz="1350" dirty="0"/>
              <a:t>, a laboratory-created substance derived from plant fibers. (credit a: modification of work by “</a:t>
            </a:r>
            <a:r>
              <a:rPr lang="en-US" sz="1350" dirty="0" err="1"/>
              <a:t>Erwinrossen</a:t>
            </a:r>
            <a:r>
              <a:rPr lang="en-US" sz="1350" dirty="0"/>
              <a:t>”/Wikimedia Commons)</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2185885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pPr algn="r"/>
            <a:r>
              <a:rPr lang="en-US" sz="2400" dirty="0">
                <a:solidFill>
                  <a:srgbClr val="6CB255"/>
                </a:solidFill>
              </a:rPr>
              <a:t>Figure </a:t>
            </a:r>
            <a:r>
              <a:rPr lang="en-US" dirty="0"/>
              <a:t>2.28</a:t>
            </a:r>
            <a:endParaRPr lang="en-US" sz="2400" dirty="0">
              <a:solidFill>
                <a:srgbClr val="6CB255"/>
              </a:solidFill>
            </a:endParaRPr>
          </a:p>
        </p:txBody>
      </p:sp>
      <p:pic>
        <p:nvPicPr>
          <p:cNvPr id="2" name="Picture Placeholder 1" descr="A table of light microscope types. These use visible or ultraviolet light to produce an image. Magnification: up to about 1000x. Brightfield microscopes are commonly used in a wide variety of laboratory applications as the standard microscope and produce an image on a bright background. The sample image of Bacillus sp. shows red rods on a clear background; small green dots in the red cells indicate endospores. Darkfield microscopes increase contrast without staining by producing a bright image on a dark background. These are especially useful for viewing live specimens. The sample image (Borrelia burgdorferi) shows bright spirals on a dark background. Phase contrast microscopes use refraction and interference caused by structures in the specimen to create high-contrast, high-resolution images without staining, making it useful for viewing live specimens and structures such as endospores and organelles. The sample image (Pseudomonas sp.) shows dark rods with a bright halo. Differential interference contrast (DIC) uses interference patters to enhance contrast between different features of a specimen to produce high-contrast images of living organisms with a three-dimensional appearance, making it especially useful in distinguishing structures within live, unstained specimens. Images viewed reveal detailed structures within cells. The sample image (Escherichia coli 0157:H7) shows small three-dimensional ovals. Fluorescence uses fluorescent stains to produce an image. Fluorescent microscopes can be used to identify pathogens, to find particular species, to distinguish living from dead, or to find location of particular molecules within a cell; also used for immunofluorescence. The sample image (Pseuodomonas putida stained with fluorescent dyes to visualize capsule) shows a green rod on a black background. Confocal microscopes use a laser to scan multiple z-planes successively, producing numerous two-dimensional, high-resolution images at various depths that can be constructed into a three-dimensional image by a computer, making this useful for examining thick specimens such as biofilms. The sample image (mouse intestine cells stained with fluorescent dye) shows cells of various colors on a dark background."/>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3235" b="-3235"/>
          <a:stretch>
            <a:fillRect/>
          </a:stretch>
        </p:blipFill>
        <p:spPr>
          <a:xfrm>
            <a:off x="4499859" y="868622"/>
            <a:ext cx="4382478" cy="5715000"/>
          </a:xfrm>
        </p:spPr>
      </p:pic>
      <p:sp>
        <p:nvSpPr>
          <p:cNvPr id="14" name="Text Placeholder 13"/>
          <p:cNvSpPr>
            <a:spLocks noGrp="1"/>
          </p:cNvSpPr>
          <p:nvPr>
            <p:ph type="body" sz="quarter" idx="14"/>
          </p:nvPr>
        </p:nvSpPr>
        <p:spPr>
          <a:xfrm>
            <a:off x="457200" y="1107617"/>
            <a:ext cx="3913188" cy="5256973"/>
          </a:xfrm>
        </p:spPr>
        <p:txBody>
          <a:bodyPr>
            <a:noAutofit/>
          </a:bodyPr>
          <a:lstStyle/>
          <a:p>
            <a:r>
              <a:rPr lang="en-US" sz="1600" dirty="0">
                <a:solidFill>
                  <a:schemeClr val="tx1"/>
                </a:solidFill>
              </a:rPr>
              <a:t>(credit “</a:t>
            </a:r>
            <a:r>
              <a:rPr lang="en-US" sz="1600" dirty="0" err="1">
                <a:solidFill>
                  <a:schemeClr val="tx1"/>
                </a:solidFill>
              </a:rPr>
              <a:t>Brightfield</a:t>
            </a:r>
            <a:r>
              <a:rPr lang="en-US" sz="1600" dirty="0">
                <a:solidFill>
                  <a:schemeClr val="tx1"/>
                </a:solidFill>
              </a:rPr>
              <a:t>”: modification of work by American Society for Microbiology; credit “</a:t>
            </a:r>
            <a:r>
              <a:rPr lang="en-US" sz="1600" dirty="0" err="1">
                <a:solidFill>
                  <a:schemeClr val="tx1"/>
                </a:solidFill>
              </a:rPr>
              <a:t>Darkfield</a:t>
            </a:r>
            <a:r>
              <a:rPr lang="en-US" sz="1600" dirty="0">
                <a:solidFill>
                  <a:schemeClr val="tx1"/>
                </a:solidFill>
              </a:rPr>
              <a:t>”: modification of work by American Society for Microbiology; credit “Phase contrast”: modification of work by American Society for Microbiology; credit “DIC”: modification of work by American Society for Microbiology; credit “Fluorescence”: modification of work by American Society for Microbiology; credit “Confocal”: modification of work by American Society for Microbiology; credit “Two-photon”: modification of work by Alberto </a:t>
            </a:r>
            <a:r>
              <a:rPr lang="en-US" sz="1600" dirty="0" err="1">
                <a:solidFill>
                  <a:schemeClr val="tx1"/>
                </a:solidFill>
              </a:rPr>
              <a:t>Diaspro</a:t>
            </a:r>
            <a:r>
              <a:rPr lang="en-US" sz="1600" dirty="0">
                <a:solidFill>
                  <a:schemeClr val="tx1"/>
                </a:solidFill>
              </a:rPr>
              <a:t>, Paolo </a:t>
            </a:r>
            <a:r>
              <a:rPr lang="en-US" sz="1600" dirty="0" err="1">
                <a:solidFill>
                  <a:schemeClr val="tx1"/>
                </a:solidFill>
              </a:rPr>
              <a:t>Bianchini</a:t>
            </a:r>
            <a:r>
              <a:rPr lang="en-US" sz="1600" dirty="0">
                <a:solidFill>
                  <a:schemeClr val="tx1"/>
                </a:solidFill>
              </a:rPr>
              <a:t>, Giuseppe </a:t>
            </a:r>
            <a:r>
              <a:rPr lang="en-US" sz="1600" dirty="0" err="1">
                <a:solidFill>
                  <a:schemeClr val="tx1"/>
                </a:solidFill>
              </a:rPr>
              <a:t>Vicidomini</a:t>
            </a:r>
            <a:r>
              <a:rPr lang="en-US" sz="1600" dirty="0">
                <a:solidFill>
                  <a:schemeClr val="tx1"/>
                </a:solidFill>
              </a:rPr>
              <a:t>, Mario </a:t>
            </a:r>
            <a:r>
              <a:rPr lang="en-US" sz="1600" dirty="0" err="1">
                <a:solidFill>
                  <a:schemeClr val="tx1"/>
                </a:solidFill>
              </a:rPr>
              <a:t>Faretta</a:t>
            </a:r>
            <a:r>
              <a:rPr lang="en-US" sz="1600" dirty="0">
                <a:solidFill>
                  <a:schemeClr val="tx1"/>
                </a:solidFill>
              </a:rPr>
              <a:t>, Paola </a:t>
            </a:r>
            <a:r>
              <a:rPr lang="en-US" sz="1600" dirty="0" err="1">
                <a:solidFill>
                  <a:schemeClr val="tx1"/>
                </a:solidFill>
              </a:rPr>
              <a:t>Ramoino</a:t>
            </a:r>
            <a:r>
              <a:rPr lang="en-US" sz="1600" dirty="0">
                <a:solidFill>
                  <a:schemeClr val="tx1"/>
                </a:solidFill>
              </a:rPr>
              <a:t>, </a:t>
            </a:r>
            <a:r>
              <a:rPr lang="en-US" sz="1600" dirty="0" err="1">
                <a:solidFill>
                  <a:schemeClr val="tx1"/>
                </a:solidFill>
              </a:rPr>
              <a:t>Cesare</a:t>
            </a:r>
            <a:r>
              <a:rPr lang="en-US" sz="1600" dirty="0">
                <a:solidFill>
                  <a:schemeClr val="tx1"/>
                </a:solidFill>
              </a:rPr>
              <a:t> </a:t>
            </a:r>
            <a:r>
              <a:rPr lang="en-US" sz="1600" dirty="0" err="1">
                <a:solidFill>
                  <a:schemeClr val="tx1"/>
                </a:solidFill>
              </a:rPr>
              <a:t>Usai</a:t>
            </a:r>
            <a:r>
              <a:rPr lang="en-US" sz="1600" dirty="0">
                <a:solidFill>
                  <a:schemeClr val="tx1"/>
                </a:solidFill>
              </a:rPr>
              <a:t>)</a:t>
            </a:r>
          </a:p>
        </p:txBody>
      </p:sp>
      <p:pic>
        <p:nvPicPr>
          <p:cNvPr id="7"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384049"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264910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2.29</a:t>
            </a:r>
          </a:p>
        </p:txBody>
      </p:sp>
      <p:pic>
        <p:nvPicPr>
          <p:cNvPr id="2" name="Picture Placeholder 1" descr="Table of electron microscopes which use electron beams focused with magnets to produce an image. Magnification: 20–100,000 x or more. Transmission electron microscopes (TEM) use electron means that pass through a specimen to visual small images; useful to observe small, thin specimens such as tissue sections and subcellular structures. The sample image (Ebola virus) shows a tube shaped into a letter d at one end. Scanning electron microscopes (SEM) use electron beams to visualize surfaces; useful to observe the three-dimensional surface details of specimens. The sample image (Campylobactor jejuni) shows thick three-dimensional spiral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396" b="-1396"/>
          <a:stretch>
            <a:fillRect/>
          </a:stretch>
        </p:blipFill>
        <p:spPr/>
      </p:pic>
      <p:sp>
        <p:nvSpPr>
          <p:cNvPr id="7" name="Text Placeholder 6"/>
          <p:cNvSpPr>
            <a:spLocks noGrp="1"/>
          </p:cNvSpPr>
          <p:nvPr>
            <p:ph type="body" sz="quarter" idx="14"/>
          </p:nvPr>
        </p:nvSpPr>
        <p:spPr/>
        <p:txBody>
          <a:bodyPr>
            <a:normAutofit/>
          </a:bodyPr>
          <a:lstStyle/>
          <a:p>
            <a:r>
              <a:rPr lang="en-US" sz="1600" dirty="0"/>
              <a:t>(credit “TEM”: modification of work by American Society for Microbiology; credit “SEM”: modification of work by American Society for Microbiology)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9339440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2.30</a:t>
            </a:r>
          </a:p>
        </p:txBody>
      </p:sp>
      <p:pic>
        <p:nvPicPr>
          <p:cNvPr id="2" name="Picture Placeholder 1" descr="A table of scanning probe microscopes with very sharp probes that are passed over the surface of the specimen and interact with it directly. Magnification: 100–100,000,000x or more. A scanning tunneling microscope (STM) uses a probe passed horizontally at a constant distance just above the specimen while the intensity of the current is measured; can map the structure of surfaces at the atomic level; works best on conducting materials but can also be used to examine organic materials such as DNA if fixed on a surface. The sample image (of a gold surface) shows small circles in repeating rows. Atomic force microscopes (AFM) are used in several ways, including using a laser focused on a cantilever to measure the bending of the tip or a probe passed above the specimen while the height needs to maintain a constant current is measured; useful to observe specimens at the atomic level and can be more easily used with nonconducting samples. The sample image (carboxymethylated nanocellulse absorbed on a silica surface) shows long strands throughou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14148" r="-14148"/>
          <a:stretch>
            <a:fillRect/>
          </a:stretch>
        </p:blipFill>
        <p:spPr/>
      </p:pic>
      <p:sp>
        <p:nvSpPr>
          <p:cNvPr id="7" name="Text Placeholder 6"/>
          <p:cNvSpPr>
            <a:spLocks noGrp="1"/>
          </p:cNvSpPr>
          <p:nvPr>
            <p:ph type="body" sz="quarter" idx="14"/>
          </p:nvPr>
        </p:nvSpPr>
        <p:spPr/>
        <p:txBody>
          <a:bodyPr>
            <a:normAutofit/>
          </a:bodyPr>
          <a:lstStyle/>
          <a:p>
            <a:endParaRPr lang="en-US" sz="1600" dirty="0"/>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0646953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2.31</a:t>
            </a:r>
          </a:p>
        </p:txBody>
      </p:sp>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200" b="0" dirty="0">
                <a:solidFill>
                  <a:schemeClr val="tx1"/>
                </a:solidFill>
              </a:rPr>
              <a:t>A </a:t>
            </a:r>
            <a:r>
              <a:rPr lang="en-US" sz="1200" dirty="0"/>
              <a:t>specimen can be heat-fixed by using a slide warmer like this one. </a:t>
            </a:r>
          </a:p>
          <a:p>
            <a:pPr marL="342900" indent="-342900">
              <a:buFontTx/>
              <a:buAutoNum type="alphaLcParenBoth"/>
            </a:pPr>
            <a:r>
              <a:rPr lang="en-US" sz="1200" b="0" dirty="0">
                <a:solidFill>
                  <a:schemeClr val="tx1"/>
                </a:solidFill>
              </a:rPr>
              <a:t>A</a:t>
            </a:r>
            <a:r>
              <a:rPr lang="en-US" sz="1200" dirty="0"/>
              <a:t>nother method for heat-fixing a specimen is to hold a slide with a smear over a </a:t>
            </a:r>
            <a:r>
              <a:rPr lang="en-US" sz="1200" dirty="0" err="1"/>
              <a:t>microincinerator</a:t>
            </a:r>
            <a:r>
              <a:rPr lang="en-US" sz="1200" dirty="0"/>
              <a:t>.</a:t>
            </a:r>
          </a:p>
          <a:p>
            <a:pPr marL="342900" indent="-342900">
              <a:buFontTx/>
              <a:buAutoNum type="alphaLcParenBoth"/>
            </a:pPr>
            <a:r>
              <a:rPr lang="en-US" sz="1200" dirty="0"/>
              <a:t>This tissue sample is being fixed in a solution of formalin (also known as formaldehyde). Chemical fixation kills microorganisms in the specimen, stopping degradation of the tissues and preserving their structure so that they can be examined later under the microscope. (credit a: modification of work by Nina Parker; credit b: modification of “Microbiology Laboratory Manual” by Gary E. Kaiser, PhD; credit c: modification of work by “University of Bristol”/YouTube)</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Photograph a shows a slide sitting on a flat heating surface. Photograph b shows a person holding a slide in front of a heated metal cylinder. Photograph c shows a bit of tissue in a container of clear liquid. Caption reads Fixing tissue: fixation to preserve tissue and maintain life-like structure; place into fixative (eg 10% formalin)."/>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457200" y="1805568"/>
            <a:ext cx="8216024" cy="21308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1313593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2.32</a:t>
            </a:r>
          </a:p>
        </p:txBody>
      </p:sp>
      <p:pic>
        <p:nvPicPr>
          <p:cNvPr id="2" name="Picture Placeholder 1" descr="Micrograph a shows chains of purple rectangles on a clear background. Micrograph B shows a purple cell on a clear background; the cell looks like a jelly with an umbrella top and long projections. Micrograph C shows clear chains of rectangles on a dark background."/>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6391" b="-16391"/>
          <a:stretch>
            <a:fillRect/>
          </a:stretch>
        </p:blipFill>
        <p:spPr/>
      </p:pic>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100" b="0" dirty="0">
                <a:solidFill>
                  <a:schemeClr val="tx1"/>
                </a:solidFill>
              </a:rPr>
              <a:t>T</a:t>
            </a:r>
            <a:r>
              <a:rPr lang="en-US" sz="1100" dirty="0"/>
              <a:t>hese </a:t>
            </a:r>
            <a:r>
              <a:rPr lang="en-US" sz="1100" i="1" dirty="0"/>
              <a:t>Bacillus </a:t>
            </a:r>
            <a:r>
              <a:rPr lang="en-US" sz="1100" i="1" dirty="0" err="1"/>
              <a:t>anthracis</a:t>
            </a:r>
            <a:r>
              <a:rPr lang="en-US" sz="1100" dirty="0"/>
              <a:t> cells have absorbed crystal violet, a basic positive stain. </a:t>
            </a:r>
          </a:p>
          <a:p>
            <a:pPr marL="342900" indent="-342900">
              <a:buFontTx/>
              <a:buAutoNum type="alphaLcParenBoth"/>
            </a:pPr>
            <a:r>
              <a:rPr lang="en-US" sz="1100" b="0" dirty="0">
                <a:solidFill>
                  <a:schemeClr val="tx1"/>
                </a:solidFill>
              </a:rPr>
              <a:t>T</a:t>
            </a:r>
            <a:r>
              <a:rPr lang="en-US" sz="1100" dirty="0"/>
              <a:t>his specimen of </a:t>
            </a:r>
            <a:r>
              <a:rPr lang="en-US" sz="1100" i="1" dirty="0" err="1"/>
              <a:t>Spinoloricus</a:t>
            </a:r>
            <a:r>
              <a:rPr lang="en-US" sz="1100" dirty="0"/>
              <a:t>, a microscopic marine organism, has been stained with rose </a:t>
            </a:r>
            <a:r>
              <a:rPr lang="en-US" sz="1100" dirty="0" err="1"/>
              <a:t>bengal</a:t>
            </a:r>
            <a:r>
              <a:rPr lang="en-US" sz="1100" dirty="0"/>
              <a:t>, a positive acidic stain.</a:t>
            </a:r>
          </a:p>
          <a:p>
            <a:pPr marL="342900" indent="-342900">
              <a:buFontTx/>
              <a:buAutoNum type="alphaLcParenBoth"/>
            </a:pPr>
            <a:r>
              <a:rPr lang="en-US" sz="1100" dirty="0"/>
              <a:t>These </a:t>
            </a:r>
            <a:r>
              <a:rPr lang="en-US" sz="1100" i="1" dirty="0"/>
              <a:t>B. </a:t>
            </a:r>
            <a:r>
              <a:rPr lang="en-US" sz="1100" i="1" dirty="0" err="1"/>
              <a:t>megaterium</a:t>
            </a:r>
            <a:r>
              <a:rPr lang="en-US" sz="1100" dirty="0"/>
              <a:t> appear to be white because they have not absorbed the negative red stain applied to the slide. (credit a: modification of work by Centers for Disease Control and Prevention; credit b: modification of work by Roberto </a:t>
            </a:r>
            <a:r>
              <a:rPr lang="en-US" sz="1100" dirty="0" err="1"/>
              <a:t>Danovaro</a:t>
            </a:r>
            <a:r>
              <a:rPr lang="en-US" sz="1100" dirty="0"/>
              <a:t>, Antonio </a:t>
            </a:r>
            <a:r>
              <a:rPr lang="en-US" sz="1100" dirty="0" err="1"/>
              <a:t>Pusceddu</a:t>
            </a:r>
            <a:r>
              <a:rPr lang="en-US" sz="1100" dirty="0"/>
              <a:t>, Cristina </a:t>
            </a:r>
            <a:r>
              <a:rPr lang="en-US" sz="1100" dirty="0" err="1"/>
              <a:t>Gambi</a:t>
            </a:r>
            <a:r>
              <a:rPr lang="en-US" sz="1100" dirty="0"/>
              <a:t>, </a:t>
            </a:r>
            <a:r>
              <a:rPr lang="en-US" sz="1100" dirty="0" err="1"/>
              <a:t>Iben</a:t>
            </a:r>
            <a:r>
              <a:rPr lang="en-US" sz="1100" dirty="0"/>
              <a:t> </a:t>
            </a:r>
            <a:r>
              <a:rPr lang="en-US" sz="1100" dirty="0" err="1"/>
              <a:t>Heiner</a:t>
            </a:r>
            <a:r>
              <a:rPr lang="en-US" sz="1100" dirty="0"/>
              <a:t>, Reinhardt </a:t>
            </a:r>
            <a:r>
              <a:rPr lang="en-US" sz="1100" dirty="0" err="1"/>
              <a:t>Mobjerg</a:t>
            </a:r>
            <a:r>
              <a:rPr lang="en-US" sz="1100" dirty="0"/>
              <a:t> </a:t>
            </a:r>
            <a:r>
              <a:rPr lang="en-US" sz="1100" dirty="0" err="1"/>
              <a:t>Kristensen</a:t>
            </a:r>
            <a:r>
              <a:rPr lang="en-US" sz="1100" dirty="0"/>
              <a:t>; credit c: modification of work by </a:t>
            </a:r>
            <a:r>
              <a:rPr lang="en-US" sz="1100" dirty="0" err="1"/>
              <a:t>Anh</a:t>
            </a:r>
            <a:r>
              <a:rPr lang="en-US" sz="1100" dirty="0"/>
              <a:t>-Hue </a:t>
            </a:r>
            <a:r>
              <a:rPr lang="en-US" sz="1100" dirty="0" err="1"/>
              <a:t>Tu</a:t>
            </a:r>
            <a:r>
              <a:rPr lang="en-US" sz="1100" dirty="0"/>
              <a:t>)</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867381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2.33</a:t>
            </a:r>
          </a:p>
        </p:txBody>
      </p:sp>
      <p:pic>
        <p:nvPicPr>
          <p:cNvPr id="2" name="Picture Placeholder 1" descr="A table shows the Gram stain process. Each row consists of a column describing the step and a column describing the effect. Additional columns show drawings to support the description in the effects column. Step 1: Crystal Violet, the primary stain, is added to the specimen smear. This stains cells purple or blue. The Gram-positive and Gram-negative cells all look purple. Step 2: Iodine, the mordant, makes the dye less soluble so it adheres to cell walls. The cells remain purple or blue. The Gram-positive and Gram-negative cells all look purple. Step 3: Alcohol, the decolorizer, washes away stain from Gram-negative cell walls. Gram-positive cells remain purple or blue, Gram-negative cells are colorless. Step 4: Safranin, the counterstain, allows dye adherence to Gram-negative cells. Gram-positive cells remain a pruple or blue. Gram-negative cells appear pink or red."/>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8271" r="-38271"/>
          <a:stretch>
            <a:fillRect/>
          </a:stretch>
        </p:blipFill>
        <p:spPr/>
      </p:pic>
      <p:sp>
        <p:nvSpPr>
          <p:cNvPr id="7" name="Text Placeholder 6"/>
          <p:cNvSpPr>
            <a:spLocks noGrp="1"/>
          </p:cNvSpPr>
          <p:nvPr>
            <p:ph type="body" sz="quarter" idx="14"/>
          </p:nvPr>
        </p:nvSpPr>
        <p:spPr/>
        <p:txBody>
          <a:bodyPr>
            <a:normAutofit/>
          </a:bodyPr>
          <a:lstStyle/>
          <a:p>
            <a:r>
              <a:rPr lang="en-US" sz="1600" dirty="0"/>
              <a:t>Gram-staining is a differential staining technique that uses a primary stain and a secondary counterstain to distinguish between gram-positive and gram-negative bacteria.</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747377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2.34</a:t>
            </a:r>
          </a:p>
        </p:txBody>
      </p:sp>
      <p:pic>
        <p:nvPicPr>
          <p:cNvPr id="2" name="Picture Placeholder 1" descr="A micrograph shows purple circles and pink rods."/>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21874" r="-21874"/>
          <a:stretch>
            <a:fillRect/>
          </a:stretch>
        </p:blipFill>
        <p:spPr/>
      </p:pic>
      <p:sp>
        <p:nvSpPr>
          <p:cNvPr id="7" name="Text Placeholder 6"/>
          <p:cNvSpPr>
            <a:spLocks noGrp="1"/>
          </p:cNvSpPr>
          <p:nvPr>
            <p:ph type="body" sz="quarter" idx="14"/>
          </p:nvPr>
        </p:nvSpPr>
        <p:spPr/>
        <p:txBody>
          <a:bodyPr>
            <a:noAutofit/>
          </a:bodyPr>
          <a:lstStyle/>
          <a:p>
            <a:r>
              <a:rPr lang="en-US" sz="1500" dirty="0"/>
              <a:t>In this specimen, the gram-positive bacterium </a:t>
            </a:r>
            <a:r>
              <a:rPr lang="en-US" sz="1500" i="1" dirty="0"/>
              <a:t>Staphylococcus aureus</a:t>
            </a:r>
            <a:r>
              <a:rPr lang="en-US" sz="1500" dirty="0"/>
              <a:t> retains crystal violet dye even after the decolorizing agent is added. Gram-negative </a:t>
            </a:r>
            <a:r>
              <a:rPr lang="en-US" sz="1500" i="1" dirty="0"/>
              <a:t>Escherichia coli</a:t>
            </a:r>
            <a:r>
              <a:rPr lang="en-US" sz="1500" dirty="0"/>
              <a:t>, the most common Gram stain quality-control bacterium, is decolorized, and is only visible after the addition of the pink counterstain safranin. (credit: modification of work by Nina Parker)</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605658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2.35</a:t>
            </a:r>
          </a:p>
        </p:txBody>
      </p:sp>
      <p:pic>
        <p:nvPicPr>
          <p:cNvPr id="2" name="Picture Placeholder 1" descr="A micrograph shows purple circles in random clusters."/>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35004" r="-35004"/>
          <a:stretch>
            <a:fillRect/>
          </a:stretch>
        </p:blipFill>
        <p:spPr/>
      </p:pic>
      <p:sp>
        <p:nvSpPr>
          <p:cNvPr id="7" name="Text Placeholder 6"/>
          <p:cNvSpPr>
            <a:spLocks noGrp="1"/>
          </p:cNvSpPr>
          <p:nvPr>
            <p:ph type="body" sz="quarter" idx="14"/>
          </p:nvPr>
        </p:nvSpPr>
        <p:spPr/>
        <p:txBody>
          <a:bodyPr>
            <a:normAutofit/>
          </a:bodyPr>
          <a:lstStyle/>
          <a:p>
            <a:r>
              <a:rPr lang="en-US" sz="1600" dirty="0"/>
              <a:t>(credit: modification of work by American Society for Microbiology)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1539792"/>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2.36</a:t>
            </a:r>
          </a:p>
        </p:txBody>
      </p:sp>
      <p:pic>
        <p:nvPicPr>
          <p:cNvPr id="2" name="Picture Placeholder 1" descr="A micrograph shows red chains of cells on a blue background."/>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9401" r="-9401"/>
          <a:stretch>
            <a:fillRect/>
          </a:stretch>
        </p:blipFill>
        <p:spPr/>
      </p:pic>
      <p:sp>
        <p:nvSpPr>
          <p:cNvPr id="7" name="Text Placeholder 6"/>
          <p:cNvSpPr>
            <a:spLocks noGrp="1"/>
          </p:cNvSpPr>
          <p:nvPr>
            <p:ph type="body" sz="quarter" idx="14"/>
          </p:nvPr>
        </p:nvSpPr>
        <p:spPr/>
        <p:txBody>
          <a:bodyPr>
            <a:normAutofit/>
          </a:bodyPr>
          <a:lstStyle/>
          <a:p>
            <a:r>
              <a:rPr lang="en-US" sz="1600" dirty="0"/>
              <a:t>Ziehl-Neelsen staining has rendered these </a:t>
            </a:r>
            <a:r>
              <a:rPr lang="en-US" sz="1600" i="1" dirty="0"/>
              <a:t>Mycobacterium tuberculosis</a:t>
            </a:r>
            <a:r>
              <a:rPr lang="en-US" sz="1600" dirty="0"/>
              <a:t> cells red and the surrounding growth indicator medium blue. (credit: modification of work by American Society for Microbiology)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266119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2.37</a:t>
            </a:r>
          </a:p>
        </p:txBody>
      </p:sp>
      <p:pic>
        <p:nvPicPr>
          <p:cNvPr id="2" name="Picture Placeholder 1" descr="Micrograph a shows clear circles on a black background. Micrograph b shows red rods with a clear halo on a dark background."/>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9828" b="-19828"/>
          <a:stretch>
            <a:fillRect/>
          </a:stretch>
        </p:blipFill>
        <p:spPr/>
      </p:pic>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290" dirty="0"/>
              <a:t>India-ink was used to stain the background around these cells of the yeast </a:t>
            </a:r>
            <a:r>
              <a:rPr lang="en-US" sz="1290" i="1" dirty="0"/>
              <a:t>Cryptococcus neoformans</a:t>
            </a:r>
            <a:r>
              <a:rPr lang="en-US" sz="1290" dirty="0"/>
              <a:t>. The halos surrounding the cells are the polysaccharide capsules. </a:t>
            </a:r>
          </a:p>
          <a:p>
            <a:pPr marL="342900" indent="-342900">
              <a:buFontTx/>
              <a:buAutoNum type="alphaLcParenBoth"/>
            </a:pPr>
            <a:r>
              <a:rPr lang="en-US" sz="1290" dirty="0"/>
              <a:t>Crystal violet and copper sulfate dyes cannot penetrate the encapsulated </a:t>
            </a:r>
            <a:r>
              <a:rPr lang="en-US" sz="1290" i="1" dirty="0"/>
              <a:t>Bacillus</a:t>
            </a:r>
            <a:r>
              <a:rPr lang="en-US" sz="1290" dirty="0"/>
              <a:t> cells in this negatively stained sample. Encapsulated cells appear to have a light-blue halo. (credit a: modification of work by American Society for Microbiology; credit b: modification of work by American Society for Microbiology)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6689648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2.38</a:t>
            </a:r>
          </a:p>
        </p:txBody>
      </p:sp>
      <p:pic>
        <p:nvPicPr>
          <p:cNvPr id="2" name="Picture Placeholder 1" descr="A micrograph shows chains of red rods. Each red rod contains a green oval. An arrow pointing to the green ovals states: green endospore inside bacterial cell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1678" b="-1678"/>
          <a:stretch>
            <a:fillRect/>
          </a:stretch>
        </p:blipFill>
        <p:spPr/>
      </p:pic>
      <p:sp>
        <p:nvSpPr>
          <p:cNvPr id="7" name="Text Placeholder 6"/>
          <p:cNvSpPr>
            <a:spLocks noGrp="1"/>
          </p:cNvSpPr>
          <p:nvPr>
            <p:ph type="body" sz="quarter" idx="14"/>
          </p:nvPr>
        </p:nvSpPr>
        <p:spPr/>
        <p:txBody>
          <a:bodyPr>
            <a:normAutofit/>
          </a:bodyPr>
          <a:lstStyle/>
          <a:p>
            <a:r>
              <a:rPr lang="en-US" sz="1600" dirty="0"/>
              <a:t>A stained preparation of </a:t>
            </a:r>
            <a:r>
              <a:rPr lang="en-US" sz="1600" i="1" dirty="0"/>
              <a:t>Bacillus subtilis</a:t>
            </a:r>
            <a:r>
              <a:rPr lang="en-US" sz="1600" dirty="0"/>
              <a:t> showing endospores as green and the vegetative cells as pink. (credit: modification of work by American Society for Microbiology)</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271375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2.39</a:t>
            </a:r>
          </a:p>
        </p:txBody>
      </p:sp>
      <p:pic>
        <p:nvPicPr>
          <p:cNvPr id="2" name="Picture Placeholder 1" descr="Three red rectangles on a clear background are shown. Each rectangle has many thin, wiggly lines projecting from it."/>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1738" r="-11738"/>
          <a:stretch>
            <a:fillRect/>
          </a:stretch>
        </p:blipFill>
        <p:spPr/>
      </p:pic>
      <p:sp>
        <p:nvSpPr>
          <p:cNvPr id="7" name="Text Placeholder 6"/>
          <p:cNvSpPr>
            <a:spLocks noGrp="1"/>
          </p:cNvSpPr>
          <p:nvPr>
            <p:ph type="body" sz="quarter" idx="14"/>
          </p:nvPr>
        </p:nvSpPr>
        <p:spPr/>
        <p:txBody>
          <a:bodyPr>
            <a:normAutofit/>
          </a:bodyPr>
          <a:lstStyle/>
          <a:p>
            <a:r>
              <a:rPr lang="en-US" sz="1600" dirty="0"/>
              <a:t>A flagella stain of </a:t>
            </a:r>
            <a:r>
              <a:rPr lang="en-US" sz="1600" i="1" dirty="0"/>
              <a:t>Bacillus cereus</a:t>
            </a:r>
            <a:r>
              <a:rPr lang="en-US" sz="1600" dirty="0"/>
              <a:t>, a common cause of foodborne illness, reveals that the cells have numerous flagella, used for locomotion. (credit: modification of work by Centers for Disease Control and Prevention)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0914992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2.40</a:t>
            </a:r>
          </a:p>
        </p:txBody>
      </p:sp>
      <p:pic>
        <p:nvPicPr>
          <p:cNvPr id="2" name="Picture Placeholder 1" descr="A table of simple stains is shown. Basic stains include: methylene blue, crystal violet, malachite green, basic fuschsin, carbolfuschsin, and safranin. Basic stains stain negatively charged molecules and structures, such as nucleic acids and proteins. The outcome of this positive stain is dark cells on a light background. Acidic stains include eosine, acid fuchsin, rose Bengal, and Congo red. Acid stains stain positively charged molecules and structures such as proteins. Acidic stains can either be positive or negative stains depending on the cell’s chemistry. Negative stains include india in k and nigrosine. Negative stains stain the background, not the specimen and produce a dark background with a light specimen."/>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37538" r="-37538"/>
          <a:stretch>
            <a:fillRect/>
          </a:stretch>
        </p:blipFill>
        <p:spPr/>
      </p:pic>
      <p:sp>
        <p:nvSpPr>
          <p:cNvPr id="7" name="Text Placeholder 6"/>
          <p:cNvSpPr>
            <a:spLocks noGrp="1"/>
          </p:cNvSpPr>
          <p:nvPr>
            <p:ph type="body" sz="quarter" idx="14"/>
          </p:nvPr>
        </p:nvSpPr>
        <p:spPr/>
        <p:txBody>
          <a:bodyPr>
            <a:normAutofit/>
          </a:bodyPr>
          <a:lstStyle/>
          <a:p>
            <a:r>
              <a:rPr lang="en-US" sz="1600" dirty="0"/>
              <a:t>(credit “basic stains”: modification of work by Centers for Disease Control and Prevention; credit “Acidic stains”: modification of work by Roberto Danovaro, Antonio Dell’Anno, Antonio Pusceddu, Cristina Gambi, Iben Heiner, Reinhardt Mobjerg Kristensen; credit “Negative stains”: modification of work by Anh-Hue Tu)</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61834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1"/>
          <p:cNvSpPr>
            <a:spLocks noGrp="1"/>
          </p:cNvSpPr>
          <p:nvPr>
            <p:ph type="title"/>
          </p:nvPr>
        </p:nvSpPr>
        <p:spPr/>
        <p:txBody>
          <a:bodyPr>
            <a:normAutofit/>
          </a:bodyPr>
          <a:lstStyle/>
          <a:p>
            <a:r>
              <a:rPr lang="en-US" sz="2400" dirty="0">
                <a:solidFill>
                  <a:srgbClr val="6CB255"/>
                </a:solidFill>
              </a:rPr>
              <a:t>Figure </a:t>
            </a:r>
            <a:r>
              <a:rPr lang="en-US" dirty="0"/>
              <a:t>2.41</a:t>
            </a:r>
            <a:endParaRPr lang="en-US" sz="2400" dirty="0">
              <a:solidFill>
                <a:srgbClr val="6CB255"/>
              </a:solidFill>
            </a:endParaRPr>
          </a:p>
        </p:txBody>
      </p:sp>
      <p:pic>
        <p:nvPicPr>
          <p:cNvPr id="2" name="Picture Placeholder 1" descr="A table of differential stains is shown. The Gram stain uses crystal violet, Gram’s iodine, ethanol (decolorizer), and safranin. The purpose of the Gram stain is to distinguish cells by cell-wall type (Gram-positive, Gram-negative). Gram-positive cells stain purple/violet. Gram-negative cells stain pink. The acid fast stain: after staining with basic fuchsin, acid-fast bacteria resist decolonization by acid-alcohol. Non-acid-fast bacteria are counterstained with methylene blue. The acid-fast stain is used to distinguish acid-fast bacteria such as M. tuberculosis, from non-acid-fast cells. Acid-fast bacteria are red; non-acid-fast cells are blue. The Endospore stain uses heat to stain endospores with malachite green (Schaeffer-Fulton procedure), then cell is washed and counterstained with safranin. The endospore stain is used to distinguish organisms with endospores from those without; used to study the endospore. Endospores appear bluish-green; other structures appear pink to red. Flagella stain: flagella are coated with a tannic acid or potassium alum mordant, then stained using either pararosaline or basic fuchsin. The flagella stain is used to view and study flagella in bacteria that have them. Flagella are visible as thin strands if present. Capsule stain: negative staining with india ink or nigrosine is used to stain the background, leaving a clear area of the cell and the capsule Counterstaining can be used to stain the cell while leaving the capsule clear. The capsule stain is used to distinguish cells with capsules from those without. Capsules appear clear or as halos if present."/>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3102" b="-3102"/>
          <a:stretch>
            <a:fillRect/>
          </a:stretch>
        </p:blipFill>
        <p:spPr>
          <a:xfrm>
            <a:off x="259410" y="879033"/>
            <a:ext cx="4384205" cy="5715000"/>
          </a:xfrm>
        </p:spPr>
      </p:pic>
      <p:sp>
        <p:nvSpPr>
          <p:cNvPr id="14" name="Text Placeholder 13"/>
          <p:cNvSpPr>
            <a:spLocks noGrp="1"/>
          </p:cNvSpPr>
          <p:nvPr>
            <p:ph type="body" sz="quarter" idx="14"/>
          </p:nvPr>
        </p:nvSpPr>
        <p:spPr>
          <a:xfrm>
            <a:off x="4856765" y="1107617"/>
            <a:ext cx="3913188" cy="5256973"/>
          </a:xfrm>
        </p:spPr>
        <p:txBody>
          <a:bodyPr>
            <a:noAutofit/>
          </a:bodyPr>
          <a:lstStyle/>
          <a:p>
            <a:r>
              <a:rPr lang="en-US" sz="1600" dirty="0">
                <a:solidFill>
                  <a:srgbClr val="000000"/>
                </a:solidFill>
              </a:rPr>
              <a:t>(credit “Gram stain”: modification of work by Nina Parker; credit “Acid-fast stain”: modification of work by American Society for Microbiology; credit “Endospore stain”: modification of work by American Society for Microbiology; credit “Capsule stain” : modification of work by American Society for Microbiology; credit “Flagella stain”: modification of work by Centers for Disease Control and Prevention)</a:t>
            </a:r>
          </a:p>
        </p:txBody>
      </p:sp>
      <p:pic>
        <p:nvPicPr>
          <p:cNvPr id="2050"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9722255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2.42</a:t>
            </a:r>
          </a:p>
        </p:txBody>
      </p:sp>
      <p:pic>
        <p:nvPicPr>
          <p:cNvPr id="2" name="Picture Placeholder 1" descr="Photograph a shows a blue solid specimen sits below a mechanical dial. Photograph b shows a person holding a dial on a machine."/>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t="-2938" b="-2938"/>
          <a:stretch>
            <a:fillRect/>
          </a:stretch>
        </p:blipFill>
        <p:spPr/>
      </p:pic>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600" dirty="0"/>
              <a:t>An ultramicrotome used to prepare specimens for a TEM. </a:t>
            </a:r>
          </a:p>
          <a:p>
            <a:pPr marL="342900" indent="-342900">
              <a:buFontTx/>
              <a:buAutoNum type="alphaLcParenBoth"/>
            </a:pPr>
            <a:r>
              <a:rPr lang="en-US" sz="1600" dirty="0"/>
              <a:t>A technician uses an ultramicrotome to slice a specimen into thin sections. (credit a: modification of work by “Frost Museum”/Flickr; credit b: modification of work by U.S. Fish and Wildlife Service Northeast Region)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2162822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2.43</a:t>
            </a:r>
          </a:p>
        </p:txBody>
      </p:sp>
      <p:pic>
        <p:nvPicPr>
          <p:cNvPr id="2" name="Picture Placeholder 1" descr="Micrograph a shows clear spirals on a black background. Micrograph b shows purple spirals on a clear background. Micrograph c shows three-dimensional spirals."/>
          <p:cNvPicPr>
            <a:picLocks noGrp="1" noChangeAspect="1"/>
          </p:cNvPicPr>
          <p:nvPr>
            <p:ph type="pic" sz="quarter" idx="13"/>
          </p:nvPr>
        </p:nvPicPr>
        <p:blipFill>
          <a:blip r:embed="rId2" cstate="email">
            <a:extLst>
              <a:ext uri="{28A0092B-C50C-407E-A947-70E740481C1C}">
                <a14:useLocalDpi xmlns:a14="http://schemas.microsoft.com/office/drawing/2010/main" val="0"/>
              </a:ext>
            </a:extLst>
          </a:blip>
          <a:srcRect l="7701" r="7701"/>
          <a:stretch>
            <a:fillRect/>
          </a:stretch>
        </p:blipFill>
        <p:spPr/>
      </p:pic>
      <p:sp>
        <p:nvSpPr>
          <p:cNvPr id="7" name="Text Placeholder 6"/>
          <p:cNvSpPr>
            <a:spLocks noGrp="1"/>
          </p:cNvSpPr>
          <p:nvPr>
            <p:ph type="body" sz="quarter" idx="14"/>
          </p:nvPr>
        </p:nvSpPr>
        <p:spPr/>
        <p:txBody>
          <a:bodyPr>
            <a:noAutofit/>
          </a:bodyPr>
          <a:lstStyle/>
          <a:p>
            <a:pPr marL="342900" indent="-342900">
              <a:buFontTx/>
              <a:buAutoNum type="alphaLcParenBoth"/>
            </a:pPr>
            <a:r>
              <a:rPr lang="en-US" sz="1130" dirty="0"/>
              <a:t>Living, unstained </a:t>
            </a:r>
            <a:r>
              <a:rPr lang="en-US" sz="1130" i="1" dirty="0"/>
              <a:t>Treponema pallidum</a:t>
            </a:r>
            <a:r>
              <a:rPr lang="en-US" sz="1130" dirty="0"/>
              <a:t> spirochetes can be viewed under a darkfield microscope. </a:t>
            </a:r>
          </a:p>
          <a:p>
            <a:pPr marL="342900" indent="-342900">
              <a:buFontTx/>
              <a:buAutoNum type="alphaLcParenBoth"/>
            </a:pPr>
            <a:r>
              <a:rPr lang="en-US" sz="1130" dirty="0"/>
              <a:t>In this brightfield image, a modified Steiner silver stain is used to visualized </a:t>
            </a:r>
            <a:r>
              <a:rPr lang="en-US" sz="1130" i="1" dirty="0"/>
              <a:t>T. pallidum</a:t>
            </a:r>
            <a:r>
              <a:rPr lang="en-US" sz="1130" dirty="0"/>
              <a:t> spirochetes. Though the stain kills the cells, it increases the contrast to make them more visible.</a:t>
            </a:r>
          </a:p>
          <a:p>
            <a:pPr marL="342900" indent="-342900">
              <a:buFontTx/>
              <a:buAutoNum type="alphaLcParenBoth"/>
            </a:pPr>
            <a:r>
              <a:rPr lang="en-US" sz="1130" dirty="0"/>
              <a:t>While not used for standard diagnostic testing, </a:t>
            </a:r>
            <a:r>
              <a:rPr lang="en-US" sz="1130" i="1" dirty="0"/>
              <a:t>T. pallidum</a:t>
            </a:r>
            <a:r>
              <a:rPr lang="en-US" sz="1130" dirty="0"/>
              <a:t> can also be examined using scanning electron microscopy. (credit a: modification of work by Centers for Disease Control and Prevention; credit b: modification of work by Centers for Disease Control and Prevention; credit c: modification of work by Centers for Disease Control and Prevention)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1140602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lstStyle/>
          <a:p>
            <a:r>
              <a:rPr lang="en-US" dirty="0"/>
              <a:t>Figure 2.44</a:t>
            </a:r>
          </a:p>
        </p:txBody>
      </p:sp>
      <p:pic>
        <p:nvPicPr>
          <p:cNvPr id="2" name="Picture Placeholder 1" descr="Fluorochromes are attached to secondary antibodies (unstained). Two secondary antibodies are attached to a single primary antibody (unstained). The primary antibody is attached to a spiral labeled T. pallidum cell"/>
          <p:cNvPicPr>
            <a:picLocks noGrp="1" noChangeAspect="1"/>
          </p:cNvPicPr>
          <p:nvPr>
            <p:ph type="pic" sz="quarter" idx="13"/>
          </p:nvPr>
        </p:nvPicPr>
        <p:blipFill>
          <a:blip r:embed="rId2">
            <a:extLst>
              <a:ext uri="{28A0092B-C50C-407E-A947-70E740481C1C}">
                <a14:useLocalDpi xmlns:a14="http://schemas.microsoft.com/office/drawing/2010/main" val="0"/>
              </a:ext>
            </a:extLst>
          </a:blip>
          <a:srcRect l="-13338" r="-13338"/>
          <a:stretch>
            <a:fillRect/>
          </a:stretch>
        </p:blipFill>
        <p:spPr/>
      </p:pic>
      <p:sp>
        <p:nvSpPr>
          <p:cNvPr id="7" name="Text Placeholder 6"/>
          <p:cNvSpPr>
            <a:spLocks noGrp="1"/>
          </p:cNvSpPr>
          <p:nvPr>
            <p:ph type="body" sz="quarter" idx="14"/>
          </p:nvPr>
        </p:nvSpPr>
        <p:spPr/>
        <p:txBody>
          <a:bodyPr>
            <a:normAutofit/>
          </a:bodyPr>
          <a:lstStyle/>
          <a:p>
            <a:r>
              <a:rPr lang="en-US" sz="1600" dirty="0"/>
              <a:t>Indirect immunofluorescence can be used to identify </a:t>
            </a:r>
            <a:r>
              <a:rPr lang="en-US" sz="1600" i="1" dirty="0"/>
              <a:t>T. pallidum</a:t>
            </a:r>
            <a:r>
              <a:rPr lang="en-US" sz="1600" dirty="0"/>
              <a:t>, the causative agent of syphilis, in a specimen.</a:t>
            </a:r>
          </a:p>
        </p:txBody>
      </p:sp>
      <p:pic>
        <p:nvPicPr>
          <p:cNvPr id="9" name="Picture 2" descr="L:\Clients\Connexions\01_CNX_ Admin\00_OSC_Project_Resources\14_OSC_Production\PowerPoints\OSX-Stacked-TM-CMYK-300dp1-2016.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7772401"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5219783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6" name="Picture 2" descr="L:\Clients\Connexions\01_CNX_ Admin\00_OSC_Project_Resources\14_OSC_Production\PowerPoints\OSX-Stacked-TM-CMYK-300dp1-2016.jpg"/>
          <p:cNvPicPr>
            <a:picLocks noChangeAspect="1" noChangeArrowheads="1"/>
          </p:cNvPicPr>
          <p:nvPr/>
        </p:nvPicPr>
        <p:blipFill>
          <a:blip r:embed="rId2" cstate="email">
            <a:extLst>
              <a:ext uri="{28A0092B-C50C-407E-A947-70E740481C1C}">
                <a14:useLocalDpi xmlns:a14="http://schemas.microsoft.com/office/drawing/2010/main" val="0"/>
              </a:ext>
            </a:extLst>
          </a:blip>
          <a:srcRect/>
          <a:stretch>
            <a:fillRect/>
          </a:stretch>
        </p:blipFill>
        <p:spPr bwMode="auto">
          <a:xfrm>
            <a:off x="384049" y="237744"/>
            <a:ext cx="1049775" cy="713232"/>
          </a:xfrm>
          <a:prstGeom prst="rect">
            <a:avLst/>
          </a:prstGeom>
          <a:noFill/>
          <a:extLst>
            <a:ext uri="{909E8E84-426E-40DD-AFC4-6F175D3DCCD1}">
              <a14:hiddenFill xmlns:a14="http://schemas.microsoft.com/office/drawing/2010/main">
                <a:solidFill>
                  <a:srgbClr val="FFFFFF"/>
                </a:solidFill>
              </a14:hiddenFill>
            </a:ext>
          </a:extLst>
        </p:spPr>
      </p:pic>
      <p:sp>
        <p:nvSpPr>
          <p:cNvPr id="5" name="Title 1"/>
          <p:cNvSpPr>
            <a:spLocks noGrp="1"/>
          </p:cNvSpPr>
          <p:nvPr>
            <p:ph type="title"/>
          </p:nvPr>
        </p:nvSpPr>
        <p:spPr/>
        <p:txBody>
          <a:bodyPr>
            <a:normAutofit/>
          </a:bodyPr>
          <a:lstStyle/>
          <a:p>
            <a:pPr algn="r"/>
            <a:endParaRPr lang="en-US" sz="2400" dirty="0">
              <a:solidFill>
                <a:srgbClr val="6CB255"/>
              </a:solidFill>
            </a:endParaRPr>
          </a:p>
        </p:txBody>
      </p:sp>
      <p:sp>
        <p:nvSpPr>
          <p:cNvPr id="14" name="Text Placeholder 13"/>
          <p:cNvSpPr>
            <a:spLocks noGrp="1"/>
          </p:cNvSpPr>
          <p:nvPr>
            <p:ph type="body" sz="quarter" idx="14"/>
          </p:nvPr>
        </p:nvSpPr>
        <p:spPr>
          <a:xfrm>
            <a:off x="457200" y="1107617"/>
            <a:ext cx="8062912" cy="5256973"/>
          </a:xfrm>
        </p:spPr>
        <p:txBody>
          <a:bodyPr anchor="ctr">
            <a:noAutofit/>
          </a:bodyPr>
          <a:lstStyle/>
          <a:p>
            <a:r>
              <a:rPr lang="en-US"/>
              <a:t>This OpenStax ancillary resource is © Rice University under a CC-BY 4.0 International license; it may be reproduced or modified but must be attributed to OpenStax, Rice University and any changes must be noted.</a:t>
            </a:r>
          </a:p>
          <a:p>
            <a:endParaRPr lang="en-US" sz="1600" dirty="0"/>
          </a:p>
        </p:txBody>
      </p:sp>
    </p:spTree>
    <p:extLst>
      <p:ext uri="{BB962C8B-B14F-4D97-AF65-F5344CB8AC3E}">
        <p14:creationId xmlns:p14="http://schemas.microsoft.com/office/powerpoint/2010/main" val="199445718"/>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ssential">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Essential">
      <a:majorFont>
        <a:latin typeface="Arial Black"/>
        <a:ea typeface=""/>
        <a:cs typeface=""/>
        <a:font script="Jpan" typeface="ＭＳ Ｐゴシック"/>
        <a:font script="Hang" typeface="HY견고딕"/>
        <a:font script="Hans" typeface="微软雅黑"/>
        <a:font script="Hant" typeface="微軟正黑體"/>
        <a:font script="Arab" typeface="Tahoma"/>
        <a:font script="Hebr" typeface="Ta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Essential">
      <a:fillStyleLst>
        <a:solidFill>
          <a:schemeClr val="phClr"/>
        </a:solidFill>
        <a:gradFill rotWithShape="1">
          <a:gsLst>
            <a:gs pos="0">
              <a:schemeClr val="phClr">
                <a:tint val="60000"/>
                <a:satMod val="250000"/>
              </a:schemeClr>
            </a:gs>
            <a:gs pos="35000">
              <a:schemeClr val="phClr">
                <a:tint val="47000"/>
                <a:satMod val="275000"/>
              </a:schemeClr>
            </a:gs>
            <a:gs pos="100000">
              <a:schemeClr val="phClr">
                <a:tint val="25000"/>
                <a:satMod val="300000"/>
              </a:schemeClr>
            </a:gs>
          </a:gsLst>
          <a:lin ang="16200000" scaled="1"/>
        </a:gradFill>
        <a:solidFill>
          <a:schemeClr val="phClr">
            <a:satMod val="110000"/>
          </a:schemeClr>
        </a:solidFill>
      </a:fillStyleLst>
      <a:lnStyleLst>
        <a:ln w="12700" cap="flat" cmpd="sng" algn="ctr">
          <a:solidFill>
            <a:schemeClr val="phClr">
              <a:shade val="95000"/>
              <a:satMod val="105000"/>
            </a:schemeClr>
          </a:solidFill>
          <a:prstDash val="solid"/>
        </a:ln>
        <a:ln w="28575" cap="flat" cmpd="sng" algn="ctr">
          <a:solidFill>
            <a:schemeClr val="phClr"/>
          </a:solidFill>
          <a:prstDash val="solid"/>
        </a:ln>
        <a:ln w="41275" cap="flat" cmpd="sng" algn="ctr">
          <a:solidFill>
            <a:schemeClr val="phClr"/>
          </a:solidFill>
          <a:prstDash val="solid"/>
        </a:ln>
      </a:lnStyleLst>
      <a:effectStyleLst>
        <a:effectStyle>
          <a:effectLst/>
        </a:effectStyle>
        <a:effectStyle>
          <a:effectLst>
            <a:outerShdw blurRad="39999" dist="23000" algn="bl" rotWithShape="0">
              <a:srgbClr val="000000">
                <a:alpha val="40000"/>
              </a:srgbClr>
            </a:outerShdw>
          </a:effectLst>
        </a:effectStyle>
        <a:effectStyle>
          <a:effectLst>
            <a:outerShdw blurRad="38100" dist="19050" algn="bl" rotWithShape="0">
              <a:srgbClr val="000000">
                <a:alpha val="60000"/>
              </a:srgbClr>
            </a:outerShdw>
          </a:effectLst>
          <a:scene3d>
            <a:camera prst="orthographicFront">
              <a:rot lat="0" lon="0" rev="0"/>
            </a:camera>
            <a:lightRig rig="balanced" dir="l"/>
          </a:scene3d>
          <a:sp3d prstMaterial="plastic">
            <a:bevelT w="38100" h="31750"/>
          </a:sp3d>
        </a:effectStyle>
      </a:effectStyleLst>
      <a:bgFillStyleLst>
        <a:solidFill>
          <a:schemeClr val="phClr"/>
        </a:solidFill>
        <a:blipFill rotWithShape="1">
          <a:blip xmlns:r="http://schemas.openxmlformats.org/officeDocument/2006/relationships" r:embed="rId1">
            <a:duotone>
              <a:schemeClr val="phClr">
                <a:tint val="96000"/>
              </a:schemeClr>
              <a:schemeClr val="phClr">
                <a:shade val="94000"/>
              </a:schemeClr>
            </a:duotone>
          </a:blip>
          <a:tile tx="0" ty="0" sx="100000" sy="100000" flip="none" algn="tl"/>
        </a:blipFill>
        <a:gradFill rotWithShape="1">
          <a:gsLst>
            <a:gs pos="0">
              <a:schemeClr val="phClr">
                <a:tint val="84000"/>
                <a:satMod val="110000"/>
              </a:schemeClr>
            </a:gs>
            <a:gs pos="44000">
              <a:schemeClr val="phClr">
                <a:tint val="93000"/>
                <a:satMod val="115000"/>
              </a:schemeClr>
            </a:gs>
            <a:gs pos="100000">
              <a:schemeClr val="phClr">
                <a:tint val="100000"/>
                <a:shade val="59000"/>
                <a:satMod val="120000"/>
              </a:schemeClr>
            </a:gs>
          </a:gsLst>
          <a:path path="circle">
            <a:fillToRect l="40000" t="60000" r="60000" b="4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568</TotalTime>
  <Words>2532</Words>
  <Application>Microsoft Office PowerPoint</Application>
  <PresentationFormat>On-screen Show (4:3)</PresentationFormat>
  <Paragraphs>113</Paragraphs>
  <Slides>46</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46</vt:i4>
      </vt:variant>
    </vt:vector>
  </HeadingPairs>
  <TitlesOfParts>
    <vt:vector size="50" baseType="lpstr">
      <vt:lpstr>Arial</vt:lpstr>
      <vt:lpstr>Arial Black</vt:lpstr>
      <vt:lpstr>Calibri</vt:lpstr>
      <vt:lpstr>Essential</vt:lpstr>
      <vt:lpstr>PowerPoint Presentation</vt:lpstr>
      <vt:lpstr>Figure 2.1</vt:lpstr>
      <vt:lpstr>Figure 2.2</vt:lpstr>
      <vt:lpstr>Figure 2.3</vt:lpstr>
      <vt:lpstr>Figure 2.4</vt:lpstr>
      <vt:lpstr>Figure 2.5</vt:lpstr>
      <vt:lpstr>Figure 2.6</vt:lpstr>
      <vt:lpstr>Figure 2.7</vt:lpstr>
      <vt:lpstr>Figure 2.8</vt:lpstr>
      <vt:lpstr>Figure 2.9</vt:lpstr>
      <vt:lpstr>Figure 2.10</vt:lpstr>
      <vt:lpstr>Figure 2.11</vt:lpstr>
      <vt:lpstr>Figure 2.12</vt:lpstr>
      <vt:lpstr>Figure 2.13</vt:lpstr>
      <vt:lpstr>Figure 2.14</vt:lpstr>
      <vt:lpstr>Figure 2.15</vt:lpstr>
      <vt:lpstr>Figure 2.16</vt:lpstr>
      <vt:lpstr>Figure 2.17</vt:lpstr>
      <vt:lpstr>Figure 2.18</vt:lpstr>
      <vt:lpstr>Figure 2.19</vt:lpstr>
      <vt:lpstr>Figure 2.20</vt:lpstr>
      <vt:lpstr>Figure 2.21</vt:lpstr>
      <vt:lpstr>Figure 2.22</vt:lpstr>
      <vt:lpstr>Figure 2.23</vt:lpstr>
      <vt:lpstr>Figure 2.24</vt:lpstr>
      <vt:lpstr>Figure 2.25</vt:lpstr>
      <vt:lpstr>Figure 2.26</vt:lpstr>
      <vt:lpstr>Figure 2.27</vt:lpstr>
      <vt:lpstr>Figure 2.28</vt:lpstr>
      <vt:lpstr>Figure 2.29</vt:lpstr>
      <vt:lpstr>Figure 2.30</vt:lpstr>
      <vt:lpstr>Figure 2.31</vt:lpstr>
      <vt:lpstr>Figure 2.32</vt:lpstr>
      <vt:lpstr>Figure 2.33</vt:lpstr>
      <vt:lpstr>Figure 2.34</vt:lpstr>
      <vt:lpstr>Figure 2.35</vt:lpstr>
      <vt:lpstr>Figure 2.36</vt:lpstr>
      <vt:lpstr>Figure 2.37</vt:lpstr>
      <vt:lpstr>Figure 2.38</vt:lpstr>
      <vt:lpstr>Figure 2.39</vt:lpstr>
      <vt:lpstr>Figure 2.40</vt:lpstr>
      <vt:lpstr>Figure 2.41</vt:lpstr>
      <vt:lpstr>Figure 2.42</vt:lpstr>
      <vt:lpstr>Figure 2.43</vt:lpstr>
      <vt:lpstr>Figure 2.44</vt:lpstr>
      <vt:lpstr>PowerPoint Presentation</vt:lpstr>
    </vt:vector>
  </TitlesOfParts>
  <Company>WNI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Physics</dc:title>
  <dc:creator>Spuddy McSpare</dc:creator>
  <cp:lastModifiedBy>Kundinger, Megan M</cp:lastModifiedBy>
  <cp:revision>70</cp:revision>
  <dcterms:created xsi:type="dcterms:W3CDTF">2012-06-04T02:13:36Z</dcterms:created>
  <dcterms:modified xsi:type="dcterms:W3CDTF">2022-08-16T13:46:08Z</dcterms:modified>
</cp:coreProperties>
</file>